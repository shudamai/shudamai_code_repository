
<file path=[Content_Types].xml><?xml version="1.0" encoding="utf-8"?>
<Types xmlns="http://schemas.openxmlformats.org/package/2006/content-types">
  <Default Extension="jpeg" ContentType="image/jpeg"/>
  <Default Extension="jpg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851" r:id="rId2"/>
    <p:sldId id="3923" r:id="rId3"/>
    <p:sldId id="3916" r:id="rId4"/>
    <p:sldId id="3886" r:id="rId5"/>
    <p:sldId id="3917" r:id="rId6"/>
    <p:sldId id="3918" r:id="rId7"/>
    <p:sldId id="3924" r:id="rId8"/>
    <p:sldId id="3919" r:id="rId9"/>
    <p:sldId id="3920" r:id="rId10"/>
    <p:sldId id="3910" r:id="rId11"/>
    <p:sldId id="3922" r:id="rId12"/>
    <p:sldId id="3921" r:id="rId13"/>
    <p:sldId id="3915" r:id="rId14"/>
    <p:sldId id="3912" r:id="rId15"/>
    <p:sldId id="3925" r:id="rId16"/>
    <p:sldId id="3926" r:id="rId17"/>
    <p:sldId id="3895" r:id="rId18"/>
    <p:sldId id="3906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gfanfan" initials="y" lastIdx="1" clrIdx="0">
    <p:extLst>
      <p:ext uri="{19B8F6BF-5375-455C-9EA6-DF929625EA0E}">
        <p15:presenceInfo xmlns:p15="http://schemas.microsoft.com/office/powerpoint/2012/main" userId="yangfanfan" providerId="None"/>
      </p:ext>
    </p:extLst>
  </p:cmAuthor>
  <p:cmAuthor id="2" name="Xu Ying" initials="X" lastIdx="6" clrIdx="1">
    <p:extLst>
      <p:ext uri="{19B8F6BF-5375-455C-9EA6-DF929625EA0E}">
        <p15:presenceInfo xmlns:p15="http://schemas.microsoft.com/office/powerpoint/2012/main" userId="Xu Ying" providerId="None"/>
      </p:ext>
    </p:extLst>
  </p:cmAuthor>
  <p:cmAuthor id="3" name="Renguang Zuo" initials="RZ" lastIdx="1" clrIdx="2">
    <p:extLst>
      <p:ext uri="{19B8F6BF-5375-455C-9EA6-DF929625EA0E}">
        <p15:presenceInfo xmlns:p15="http://schemas.microsoft.com/office/powerpoint/2012/main" userId="db2452aa9c021f2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B7FD1"/>
    <a:srgbClr val="2473D1"/>
    <a:srgbClr val="000099"/>
    <a:srgbClr val="0000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32" autoAdjust="0"/>
    <p:restoredTop sz="93553" autoAdjust="0"/>
  </p:normalViewPr>
  <p:slideViewPr>
    <p:cSldViewPr snapToGrid="0">
      <p:cViewPr>
        <p:scale>
          <a:sx n="75" d="100"/>
          <a:sy n="75" d="100"/>
        </p:scale>
        <p:origin x="483" y="111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89B30-57E0-4F11-862C-A0B3453467B4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77E80-5C4E-414F-A1E0-C609CFFFE4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286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77E80-5C4E-414F-A1E0-C609CFFFE44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221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681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841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805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189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741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889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245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146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3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351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296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615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endParaRPr lang="zh-CN" altLang="en-US" sz="1800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19D59B-D1F1-4481-B6D6-CC828FB344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726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0A09B-FFF3-C99D-18CC-4FEADCE3B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2C59E9A5-E7FF-1521-555C-C44A53E8BC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8879B6EC-1D67-C867-5A3D-8AB81F2D5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lnSpc>
                <a:spcPct val="120000"/>
              </a:lnSpc>
              <a:spcBef>
                <a:spcPct val="0"/>
              </a:spcBef>
              <a:buFont typeface="Calibri" panose="020F0502020204030204" pitchFamily="34" charset="0"/>
              <a:buNone/>
            </a:pP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5644D1-C21A-84E7-EC65-142D4957C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2A7A77-23E5-4722-AE9D-ABE4ECCBB79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686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312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325D83-A1A4-42EC-9428-BA513B77D351}"/>
              </a:ext>
            </a:extLst>
          </p:cNvPr>
          <p:cNvSpPr/>
          <p:nvPr userDrawn="1"/>
        </p:nvSpPr>
        <p:spPr>
          <a:xfrm>
            <a:off x="0" y="0"/>
            <a:ext cx="12192000" cy="792088"/>
          </a:xfrm>
          <a:prstGeom prst="rect">
            <a:avLst/>
          </a:prstGeom>
          <a:solidFill>
            <a:srgbClr val="3C1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1B1703E-6A43-4132-90F5-E49CAFFA5CCB}"/>
              </a:ext>
            </a:extLst>
          </p:cNvPr>
          <p:cNvCxnSpPr/>
          <p:nvPr userDrawn="1"/>
        </p:nvCxnSpPr>
        <p:spPr>
          <a:xfrm>
            <a:off x="1" y="836712"/>
            <a:ext cx="1218318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190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-1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 bwMode="auto">
          <a:xfrm>
            <a:off x="0" y="836712"/>
            <a:ext cx="12192000" cy="0"/>
          </a:xfrm>
          <a:prstGeom prst="line">
            <a:avLst/>
          </a:prstGeom>
          <a:noFill/>
          <a:ln w="50800" cap="flat" cmpd="sng" algn="ctr">
            <a:gradFill>
              <a:gsLst>
                <a:gs pos="10000">
                  <a:srgbClr val="00B0F0"/>
                </a:gs>
                <a:gs pos="50000">
                  <a:srgbClr val="0070C0"/>
                </a:gs>
                <a:gs pos="90000">
                  <a:srgbClr val="00B0F0"/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标题 6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defRPr lang="en-US" sz="3600" b="1" spc="3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 eaLnBrk="1" hangingPunct="1">
              <a:lnSpc>
                <a:spcPct val="150000"/>
              </a:lnSpc>
            </a:pPr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29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238C6-5FD7-4B91-8E21-F73FFB5A2980}" type="datetimeFigureOut">
              <a:rPr lang="zh-CN" altLang="en-US" smtClean="0"/>
              <a:t>2025/3/30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20933-7898-479D-8DAD-8C5E7DAF47C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633871"/>
            <a:ext cx="12191999" cy="1888761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04850" y="1814917"/>
            <a:ext cx="10782300" cy="1587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大数据与人工智能找矿</a:t>
            </a:r>
            <a:endParaRPr lang="en-US" alt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20000"/>
              </a:lnSpc>
              <a:defRPr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实习五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卷积神经网络操作</a:t>
            </a:r>
            <a:endParaRPr lang="zh-CN" altLang="en-US" sz="3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12">
            <a:extLst>
              <a:ext uri="{FF2B5EF4-FFF2-40B4-BE49-F238E27FC236}">
                <a16:creationId xmlns:a16="http://schemas.microsoft.com/office/drawing/2014/main" id="{BC6F318D-2EA5-C531-BE9F-6ADBB3ACA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7521" y="4093183"/>
            <a:ext cx="4452079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左仁广  熊义辉  王子烨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D3A9B44-EC82-2A4E-D043-278E76604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6665" y="6046072"/>
            <a:ext cx="3652399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F5906B-0547-C1CC-D2F8-BDE0A9D7E702}"/>
              </a:ext>
            </a:extLst>
          </p:cNvPr>
          <p:cNvSpPr txBox="1"/>
          <p:nvPr/>
        </p:nvSpPr>
        <p:spPr>
          <a:xfrm>
            <a:off x="988097" y="4904832"/>
            <a:ext cx="10215797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地质过程与成矿预测全国重点实验室、资源学院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固体地球科学大数据研究中心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439603E-882E-373C-D6BB-426D675F198E}"/>
              </a:ext>
            </a:extLst>
          </p:cNvPr>
          <p:cNvSpPr txBox="1"/>
          <p:nvPr/>
        </p:nvSpPr>
        <p:spPr>
          <a:xfrm>
            <a:off x="2838149" y="265337"/>
            <a:ext cx="8740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国家自然科学基金委员会矿床学创新研究群体项目</a:t>
            </a:r>
          </a:p>
        </p:txBody>
      </p:sp>
      <p:pic>
        <p:nvPicPr>
          <p:cNvPr id="15" name="图片 14" descr="图片包含 游戏机, 仪表&#10;&#10;描述已自动生成">
            <a:extLst>
              <a:ext uri="{FF2B5EF4-FFF2-40B4-BE49-F238E27FC236}">
                <a16:creationId xmlns:a16="http://schemas.microsoft.com/office/drawing/2014/main" id="{437402CB-CC4F-D6ED-A98E-22A8F441FC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19" y="85751"/>
            <a:ext cx="906167" cy="715959"/>
          </a:xfrm>
          <a:prstGeom prst="rect">
            <a:avLst/>
          </a:prstGeom>
        </p:spPr>
      </p:pic>
      <p:pic>
        <p:nvPicPr>
          <p:cNvPr id="16" name="图片 15" descr="徽标&#10;&#10;描述已自动生成">
            <a:extLst>
              <a:ext uri="{FF2B5EF4-FFF2-40B4-BE49-F238E27FC236}">
                <a16:creationId xmlns:a16="http://schemas.microsoft.com/office/drawing/2014/main" id="{26BCA349-F07E-06BB-26CB-BAE48E3DC7E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6161" y="135399"/>
            <a:ext cx="711481" cy="669144"/>
          </a:xfrm>
          <a:prstGeom prst="rect">
            <a:avLst/>
          </a:prstGeom>
        </p:spPr>
      </p:pic>
      <p:pic>
        <p:nvPicPr>
          <p:cNvPr id="2" name="Picture 15" descr="trans_icon">
            <a:extLst>
              <a:ext uri="{FF2B5EF4-FFF2-40B4-BE49-F238E27FC236}">
                <a16:creationId xmlns:a16="http://schemas.microsoft.com/office/drawing/2014/main" id="{FBFFEA8E-F0A0-7794-29F4-DFD5E01D6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24" y="175339"/>
            <a:ext cx="935389" cy="93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32B3C98-1100-2F11-19AB-6897B1DC07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881" y="170163"/>
            <a:ext cx="1568648" cy="10476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48E2178-AD45-036A-373B-4A8C3FFBA0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142" y="33032"/>
            <a:ext cx="1479689" cy="14796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46730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0DD3C7-B7A1-F855-4D36-B9B1A1A66D45}"/>
              </a:ext>
            </a:extLst>
          </p:cNvPr>
          <p:cNvSpPr txBox="1"/>
          <p:nvPr/>
        </p:nvSpPr>
        <p:spPr>
          <a:xfrm>
            <a:off x="438064" y="1330079"/>
            <a:ext cx="11315872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卷积神经网络的基本结构包括输入层、卷积层、池化层、全连接层和输出层，其基本原理为对输入数据通过卷积、池化操作进行空间特征提取，然后将空间特征展平为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维向量输入到全连接层，从而将输入数据转化为用于识别和分类的特征向量。</a:t>
            </a:r>
            <a:endParaRPr lang="en-US" altLang="zh-CN" dirty="0">
              <a:solidFill>
                <a:srgbClr val="2B7F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算法原理</a:t>
            </a:r>
            <a:endParaRPr lang="zh-CN" altLang="en-US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59F99DA-4925-B95B-E3C3-1EB94D5B6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334" y="2845034"/>
            <a:ext cx="6160366" cy="347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4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0DD3C7-B7A1-F855-4D36-B9B1A1A66D45}"/>
              </a:ext>
            </a:extLst>
          </p:cNvPr>
          <p:cNvSpPr txBox="1"/>
          <p:nvPr/>
        </p:nvSpPr>
        <p:spPr>
          <a:xfrm>
            <a:off x="438064" y="1330079"/>
            <a:ext cx="11315872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卷积神经网络的基本结构包括输入层、卷积层、池化层、全连接层和输出层，其基本原理为对输入数据通过卷积、池化操作进行空间特征提取，然后将空间特征展平为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维向量输入到全连接层，从而将输入数据转化为用于识别和分类的特征向量。</a:t>
            </a:r>
            <a:endParaRPr lang="en-US" altLang="zh-CN" dirty="0">
              <a:solidFill>
                <a:srgbClr val="2B7FD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算法原理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EE61B12-D20A-7B46-7B98-FDBCC2D43F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2" t="37366" r="7554" b="19521"/>
          <a:stretch>
            <a:fillRect/>
          </a:stretch>
        </p:blipFill>
        <p:spPr>
          <a:xfrm>
            <a:off x="5372100" y="2784248"/>
            <a:ext cx="5940980" cy="1675992"/>
          </a:xfrm>
          <a:prstGeom prst="rect">
            <a:avLst/>
          </a:prstGeom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57059C9-35A4-6BC8-BB41-03027F3F8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1934" y="4605454"/>
            <a:ext cx="2896416" cy="195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7CF8A64-CFE6-6BE3-D29C-33049A4C77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08184" y="4605454"/>
            <a:ext cx="2672158" cy="203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D94A6C3-A358-20A8-F634-38959BB067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243" y="3105150"/>
            <a:ext cx="2894282" cy="328995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287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0DD3C7-B7A1-F855-4D36-B9B1A1A66D45}"/>
              </a:ext>
            </a:extLst>
          </p:cNvPr>
          <p:cNvSpPr txBox="1"/>
          <p:nvPr/>
        </p:nvSpPr>
        <p:spPr>
          <a:xfrm>
            <a:off x="604319" y="1423308"/>
            <a:ext cx="11315872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将证据图层整合为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[243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171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4]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尺寸的三维数组，栅格大小为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243×171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，数据通道数为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样本制作</a:t>
            </a:r>
            <a:endParaRPr lang="zh-CN" altLang="en-US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96956D-D490-B527-A0FC-BF539FD01D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2378794"/>
            <a:ext cx="4679950" cy="42138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B823F34-B7E3-DA1A-B96A-0BCFB38593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1937858"/>
            <a:ext cx="4542155" cy="49809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3237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0DD3C7-B7A1-F855-4D36-B9B1A1A66D45}"/>
              </a:ext>
            </a:extLst>
          </p:cNvPr>
          <p:cNvSpPr txBox="1"/>
          <p:nvPr/>
        </p:nvSpPr>
        <p:spPr>
          <a:xfrm>
            <a:off x="604319" y="1423308"/>
            <a:ext cx="11315872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将证据图层整合为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[243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171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4]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尺寸的三维数组，栅格大小为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243×171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，数据通道数为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样本制作</a:t>
            </a:r>
            <a:endParaRPr lang="zh-CN" altLang="en-US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628A39E-3229-58EA-3753-FA47E04F3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4868" y="2200276"/>
            <a:ext cx="5628167" cy="1611312"/>
          </a:xfrm>
          <a:prstGeom prst="rect">
            <a:avLst/>
          </a:prstGeom>
          <a:noFill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5B25CA1-1087-680C-3804-41BB76C7F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4867" y="4386823"/>
            <a:ext cx="5628167" cy="695740"/>
          </a:xfrm>
          <a:prstGeom prst="rect">
            <a:avLst/>
          </a:prstGeom>
          <a:noFill/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E687BB6-FF69-D565-92D1-6B26F0B306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4867" y="5496439"/>
            <a:ext cx="5628167" cy="1376510"/>
          </a:xfrm>
          <a:prstGeom prst="rect">
            <a:avLst/>
          </a:prstGeom>
          <a:noFill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6123BD-F300-639C-1AB6-5E51F8412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7996" y="2009654"/>
            <a:ext cx="4535805" cy="2212975"/>
          </a:xfrm>
          <a:prstGeom prst="rect">
            <a:avLst/>
          </a:prstGeom>
          <a:noFill/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B4FDD9F-6693-0594-3389-881AFFEFE5C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10" t="11289" r="49650" b="45452"/>
          <a:stretch>
            <a:fillRect/>
          </a:stretch>
        </p:blipFill>
        <p:spPr>
          <a:xfrm>
            <a:off x="6837996" y="4222629"/>
            <a:ext cx="4535805" cy="2547620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108929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BA07FE7-512A-61B9-66FD-5599CCE50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21" y="1296412"/>
            <a:ext cx="10079827" cy="556158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70DD3C7-B7A1-F855-4D36-B9B1A1A66D45}"/>
              </a:ext>
            </a:extLst>
          </p:cNvPr>
          <p:cNvSpPr txBox="1"/>
          <p:nvPr/>
        </p:nvSpPr>
        <p:spPr>
          <a:xfrm>
            <a:off x="422178" y="4339369"/>
            <a:ext cx="6128326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以正样本或负样本为中心，向四周扩充</a:t>
            </a:r>
            <a:r>
              <a:rPr lang="en-US" altLang="zh-CN" dirty="0" err="1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n×n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的像素块（本案例中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n=3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裁剪每个样本生成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baseline="30000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个不重复的子样本，依次完成窗口大小为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w=9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），增强尺寸为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3×3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的正、负样本数据增强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样本制作</a:t>
            </a:r>
            <a:r>
              <a:rPr lang="en-US" altLang="zh-CN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数据增广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110EB4-2A96-03AD-40F6-17BB6873995D}"/>
              </a:ext>
            </a:extLst>
          </p:cNvPr>
          <p:cNvSpPr txBox="1"/>
          <p:nvPr/>
        </p:nvSpPr>
        <p:spPr>
          <a:xfrm>
            <a:off x="3343275" y="2815709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7E2FFB-0793-3104-1875-C749F294C8E4}"/>
              </a:ext>
            </a:extLst>
          </p:cNvPr>
          <p:cNvSpPr txBox="1"/>
          <p:nvPr/>
        </p:nvSpPr>
        <p:spPr>
          <a:xfrm>
            <a:off x="5943600" y="2815709"/>
            <a:ext cx="813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w=3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8258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0DD3C7-B7A1-F855-4D36-B9B1A1A66D45}"/>
              </a:ext>
            </a:extLst>
          </p:cNvPr>
          <p:cNvSpPr txBox="1"/>
          <p:nvPr/>
        </p:nvSpPr>
        <p:spPr>
          <a:xfrm>
            <a:off x="604319" y="1423308"/>
            <a:ext cx="11315872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以正样本或负样本为中心，向四周扩充</a:t>
            </a:r>
            <a:r>
              <a:rPr lang="en-US" altLang="zh-CN" dirty="0" err="1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n×n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的像素块（本案例中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n=3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裁剪每个样本生成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baseline="30000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个不重复的子样本，依次完成窗口大小为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，增强尺寸为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3×3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的正、负样本数据增强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样本制作</a:t>
            </a:r>
            <a:r>
              <a:rPr lang="en-US" altLang="zh-CN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数据增广</a:t>
            </a:r>
            <a:endParaRPr lang="zh-CN" alt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DE0352F-5810-1A62-4252-6922E6A04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5513" y="4249813"/>
            <a:ext cx="4319905" cy="1234440"/>
          </a:xfrm>
          <a:prstGeom prst="rect">
            <a:avLst/>
          </a:prstGeom>
          <a:noFill/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D527A2C-F208-B7B0-02A5-3C9152147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3119" y="3429000"/>
            <a:ext cx="4319905" cy="2458085"/>
          </a:xfrm>
          <a:prstGeom prst="rect">
            <a:avLst/>
          </a:prstGeom>
          <a:noFill/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008ED84-B1AC-677A-D370-C55F3BA47F00}"/>
              </a:ext>
            </a:extLst>
          </p:cNvPr>
          <p:cNvSpPr txBox="1"/>
          <p:nvPr/>
        </p:nvSpPr>
        <p:spPr>
          <a:xfrm>
            <a:off x="5590827" y="3123908"/>
            <a:ext cx="63293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train_extend</a:t>
            </a:r>
            <a:r>
              <a:rPr lang="zh-CN" altLang="en-US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valid_extend</a:t>
            </a:r>
            <a:r>
              <a:rPr lang="zh-CN" altLang="en-US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文件夹，每个文件夹下新建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两个子文件夹，保存数据扩增后的训练集正、负样本与验证集正、负样本，文件类型为</a:t>
            </a:r>
            <a:r>
              <a:rPr lang="en-US" altLang="zh-CN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en-US" altLang="zh-CN" sz="18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npy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344A47-7FBC-C863-93E7-9B0EEB52A464}"/>
              </a:ext>
            </a:extLst>
          </p:cNvPr>
          <p:cNvSpPr txBox="1"/>
          <p:nvPr/>
        </p:nvSpPr>
        <p:spPr>
          <a:xfrm>
            <a:off x="427760" y="3026005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导出扩增后的正负样本到对应的子文件夹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179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0DD3C7-B7A1-F855-4D36-B9B1A1A66D45}"/>
              </a:ext>
            </a:extLst>
          </p:cNvPr>
          <p:cNvSpPr txBox="1"/>
          <p:nvPr/>
        </p:nvSpPr>
        <p:spPr>
          <a:xfrm>
            <a:off x="604319" y="1423308"/>
            <a:ext cx="11315872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的比例将扩增后的样本随机分为训练集与验证集，并保存在对应子文件夹中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样本制作</a:t>
            </a:r>
            <a:r>
              <a:rPr lang="en-US" altLang="zh-CN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数据增广（分割样本）</a:t>
            </a:r>
            <a:endParaRPr lang="zh-CN" altLang="en-US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FF2F54B-55B7-4396-1227-8FE398322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86430" y="2030609"/>
            <a:ext cx="5617143" cy="45681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453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0DD3C7-B7A1-F855-4D36-B9B1A1A66D45}"/>
              </a:ext>
            </a:extLst>
          </p:cNvPr>
          <p:cNvSpPr txBox="1"/>
          <p:nvPr/>
        </p:nvSpPr>
        <p:spPr>
          <a:xfrm>
            <a:off x="604318" y="1423308"/>
            <a:ext cx="11454331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将扩增后的文件进行整合，制作训练数据集和验证数据集，分别为</a:t>
            </a:r>
            <a:r>
              <a:rPr lang="en-US" altLang="zh-CN" dirty="0" err="1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train_data.npy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（训练数据集）、</a:t>
            </a:r>
            <a:r>
              <a:rPr lang="en-US" altLang="zh-CN" dirty="0" err="1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train_labels.npy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（训练数据集标签）、</a:t>
            </a:r>
            <a:r>
              <a:rPr lang="en-US" altLang="zh-CN" dirty="0" err="1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valid_data.npy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（验证数据集）、</a:t>
            </a:r>
            <a:r>
              <a:rPr lang="en-US" altLang="zh-CN" dirty="0" err="1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valid_labels.npy</a:t>
            </a:r>
            <a:r>
              <a:rPr lang="zh-CN" altLang="en-US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（验证数据集标签）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样本制作</a:t>
            </a:r>
            <a:r>
              <a:rPr lang="en-US" altLang="zh-CN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数据增广（分割样本）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01F8E4-B61C-1BA4-7611-027DA8B4A0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36"/>
          <a:stretch/>
        </p:blipFill>
        <p:spPr>
          <a:xfrm>
            <a:off x="782161" y="2342650"/>
            <a:ext cx="5053532" cy="4035515"/>
          </a:xfrm>
          <a:prstGeom prst="rect">
            <a:avLst/>
          </a:prstGeom>
          <a:noFill/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896A964-B64E-6360-8BA2-FBB35E13A9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40"/>
          <a:stretch/>
        </p:blipFill>
        <p:spPr>
          <a:xfrm>
            <a:off x="6096000" y="3286125"/>
            <a:ext cx="5392681" cy="21485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953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模型输入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B5CFEB-CD58-4151-D1BF-2B24EE48C991}"/>
              </a:ext>
            </a:extLst>
          </p:cNvPr>
          <p:cNvSpPr txBox="1"/>
          <p:nvPr/>
        </p:nvSpPr>
        <p:spPr>
          <a:xfrm>
            <a:off x="438064" y="1494111"/>
            <a:ext cx="1175393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模型输入为四部分，分别为训练数据集、训练数据集标签、验证数据集、验证数据集标签。训练数据集与验证数据集为两个四维数组，尺寸为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[n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c]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，其中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为样本个数，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为样本窗口大小，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为通道数。本案例窗口大小为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，通道数为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800" kern="100" dirty="0">
              <a:solidFill>
                <a:schemeClr val="accent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AD3825-EDA6-42EB-E1E4-96718507F82F}"/>
              </a:ext>
            </a:extLst>
          </p:cNvPr>
          <p:cNvSpPr txBox="1"/>
          <p:nvPr/>
        </p:nvSpPr>
        <p:spPr>
          <a:xfrm>
            <a:off x="438064" y="3003711"/>
            <a:ext cx="133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调用工具包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FF6C0C-F32B-7223-B232-5889F28CDD73}"/>
              </a:ext>
            </a:extLst>
          </p:cNvPr>
          <p:cNvSpPr txBox="1"/>
          <p:nvPr/>
        </p:nvSpPr>
        <p:spPr>
          <a:xfrm>
            <a:off x="5676900" y="3003711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读取训练集及标签、验证集及标签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3AF9EA3-E8AA-88B4-F7F1-DCCFCB86B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3061" y="3592738"/>
            <a:ext cx="4535805" cy="2030095"/>
          </a:xfrm>
          <a:prstGeom prst="rect">
            <a:avLst/>
          </a:prstGeom>
          <a:noFill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7119CD3-3CE4-6869-9FFE-8A3FBA76F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76900" y="3694306"/>
            <a:ext cx="6280933" cy="12899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6479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模型结构及参数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B5CFEB-CD58-4151-D1BF-2B24EE48C991}"/>
              </a:ext>
            </a:extLst>
          </p:cNvPr>
          <p:cNvSpPr txBox="1"/>
          <p:nvPr/>
        </p:nvSpPr>
        <p:spPr>
          <a:xfrm>
            <a:off x="438064" y="1494111"/>
            <a:ext cx="11334836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卷积神经网络中参数众多，主要包括</a:t>
            </a:r>
            <a:r>
              <a:rPr lang="zh-CN" altLang="en-US" sz="1800" b="1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运行超参数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en-US" sz="1800" b="1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结构超参数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。运行超参数包括学习率、优化器类型、批处理大小、迭代次数等，其主要影响模型收敛程度和训练效率。结构超参数包括隐含层层数、卷积核尺寸、卷积核步长、池化方式、池化步长、激活函数类型等，其主要影响模型训练精度。</a:t>
            </a:r>
            <a:endParaRPr lang="zh-CN" altLang="zh-CN" sz="1800" kern="100" dirty="0">
              <a:solidFill>
                <a:schemeClr val="accent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6522142-4D63-E3ED-D021-36837FB0D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7011" y="3392488"/>
            <a:ext cx="4535805" cy="2950845"/>
          </a:xfrm>
          <a:prstGeom prst="rect">
            <a:avLst/>
          </a:prstGeom>
          <a:noFill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662A788-1978-56AC-45D3-46B83F38F6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6121" y="3110306"/>
            <a:ext cx="6149603" cy="3058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673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模型训练及预测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B5CFEB-CD58-4151-D1BF-2B24EE48C991}"/>
              </a:ext>
            </a:extLst>
          </p:cNvPr>
          <p:cNvSpPr txBox="1"/>
          <p:nvPr/>
        </p:nvSpPr>
        <p:spPr>
          <a:xfrm>
            <a:off x="438064" y="1494111"/>
            <a:ext cx="11432203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完成模型搭建及参数设置后，运行基于卷积神经网络的矿产资源潜力评价代码进行模型训练，训练过程中会实时输出每次迭代过程中训练集与验证集的损失值（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loss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）和精度（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accuracy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）。观察损失值和精度随迭代次数的变化，当损失值和精度均稳定收敛时，表明模型训练成功</a:t>
            </a:r>
            <a:endParaRPr lang="zh-CN" altLang="zh-CN" sz="1800" kern="100" dirty="0">
              <a:solidFill>
                <a:schemeClr val="accent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AD3825-EDA6-42EB-E1E4-96718507F82F}"/>
              </a:ext>
            </a:extLst>
          </p:cNvPr>
          <p:cNvSpPr txBox="1"/>
          <p:nvPr/>
        </p:nvSpPr>
        <p:spPr>
          <a:xfrm>
            <a:off x="712779" y="2921842"/>
            <a:ext cx="133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模型训练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FD2271A-6C91-8B90-3652-6593BC530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599" y="3429000"/>
            <a:ext cx="5244486" cy="2770187"/>
          </a:xfrm>
          <a:prstGeom prst="rect">
            <a:avLst/>
          </a:prstGeom>
          <a:noFill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0756E4C-5BB8-424E-B298-2EFA5EC09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80526" y="2975560"/>
            <a:ext cx="4415790" cy="1530350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851EE0E-A484-8BF5-9FE5-D518DB6348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6"/>
          <a:stretch>
            <a:fillRect/>
          </a:stretch>
        </p:blipFill>
        <p:spPr>
          <a:xfrm>
            <a:off x="5953125" y="4646211"/>
            <a:ext cx="3003807" cy="2071675"/>
          </a:xfrm>
          <a:prstGeom prst="rect">
            <a:avLst/>
          </a:prstGeom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F7A4E19-C39D-2D42-BCE5-594C1043B9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64"/>
          <a:stretch>
            <a:fillRect/>
          </a:stretch>
        </p:blipFill>
        <p:spPr>
          <a:xfrm>
            <a:off x="8888421" y="4697454"/>
            <a:ext cx="2981846" cy="202043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8830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模型训练及预测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B5CFEB-CD58-4151-D1BF-2B24EE48C991}"/>
              </a:ext>
            </a:extLst>
          </p:cNvPr>
          <p:cNvSpPr txBox="1"/>
          <p:nvPr/>
        </p:nvSpPr>
        <p:spPr>
          <a:xfrm>
            <a:off x="438064" y="1494111"/>
            <a:ext cx="11432203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完成模型搭建及参数设置后，运行基于卷积神经网络的矿产资源潜力评价代码进行模型训练，训练过程中会实时输出每次迭代过程中训练集与验证集的损失值（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loss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）和精度（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accuracy</a:t>
            </a:r>
            <a:r>
              <a:rPr lang="zh-CN" altLang="en-US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）。观察损失值和精度随迭代次数的变化，当损失值和精度均稳定收敛时，表明模型训练成功</a:t>
            </a:r>
            <a:endParaRPr lang="zh-CN" altLang="zh-CN" sz="1800" kern="100" dirty="0">
              <a:solidFill>
                <a:schemeClr val="accent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FF6C0C-F32B-7223-B232-5889F28CDD73}"/>
              </a:ext>
            </a:extLst>
          </p:cNvPr>
          <p:cNvSpPr txBox="1"/>
          <p:nvPr/>
        </p:nvSpPr>
        <p:spPr>
          <a:xfrm>
            <a:off x="7046325" y="274477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结果可视化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E6B829-C644-5594-9B1D-CC3D5C470432}"/>
              </a:ext>
            </a:extLst>
          </p:cNvPr>
          <p:cNvSpPr txBox="1"/>
          <p:nvPr/>
        </p:nvSpPr>
        <p:spPr>
          <a:xfrm>
            <a:off x="798504" y="2744775"/>
            <a:ext cx="1338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模型预测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26712F-31D1-0694-84FA-6D0E029D5937}"/>
              </a:ext>
            </a:extLst>
          </p:cNvPr>
          <p:cNvSpPr txBox="1"/>
          <p:nvPr/>
        </p:nvSpPr>
        <p:spPr>
          <a:xfrm>
            <a:off x="798504" y="4693244"/>
            <a:ext cx="164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预测结果输出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8A2450-B6F4-8927-58E6-CFDAB713D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8504" y="3116428"/>
            <a:ext cx="4535805" cy="1664335"/>
          </a:xfrm>
          <a:prstGeom prst="rect">
            <a:avLst/>
          </a:prstGeom>
          <a:noFill/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0F2E9F9-4C77-610A-C6E0-36764D4F4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8504" y="5034970"/>
            <a:ext cx="4535805" cy="1847215"/>
          </a:xfrm>
          <a:prstGeom prst="rect">
            <a:avLst/>
          </a:prstGeom>
          <a:noFill/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440DA0-0472-B354-A396-0FB25D8B37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56107" y="3299816"/>
            <a:ext cx="4528185" cy="3315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637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FC6220-E4F3-4130-BDF3-8475221E9B23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实习内容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296182-412B-4B6B-3030-071804504259}"/>
              </a:ext>
            </a:extLst>
          </p:cNvPr>
          <p:cNvSpPr txBox="1"/>
          <p:nvPr/>
        </p:nvSpPr>
        <p:spPr>
          <a:xfrm>
            <a:off x="154709" y="928315"/>
            <a:ext cx="6128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B7FD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结果评价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B5CFEB-CD58-4151-D1BF-2B24EE48C991}"/>
              </a:ext>
            </a:extLst>
          </p:cNvPr>
          <p:cNvSpPr txBox="1"/>
          <p:nvPr/>
        </p:nvSpPr>
        <p:spPr>
          <a:xfrm>
            <a:off x="438064" y="1494111"/>
            <a:ext cx="11381403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利用受试者工作特征曲线（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Receiver operating characteristic curve, ROC</a:t>
            </a:r>
            <a:r>
              <a:rPr lang="zh-CN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）来评价模型的预测性能。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ROC </a:t>
            </a:r>
            <a:r>
              <a:rPr lang="zh-CN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曲线能够反映模型在不同阈值下其真阳性率和假阳性率的变化趋势。一般地，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ROC </a:t>
            </a:r>
            <a:r>
              <a:rPr lang="zh-CN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曲线越接近左上角，表明模型预测效果越好。同时，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ROC </a:t>
            </a:r>
            <a:r>
              <a:rPr lang="zh-CN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曲线使用曲线下的面积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(AUC, area under curve)</a:t>
            </a:r>
            <a:r>
              <a:rPr lang="zh-CN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来定量表征模型的预测能力，该值越接近</a:t>
            </a:r>
            <a:r>
              <a:rPr lang="en-US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solidFill>
                  <a:schemeClr val="accent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，模型的表现越好。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D549E7-AA08-EBEB-95A2-359DB3BB5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2810" y="3489993"/>
            <a:ext cx="4542155" cy="1481455"/>
          </a:xfrm>
          <a:prstGeom prst="rect">
            <a:avLst/>
          </a:prstGeom>
          <a:noFill/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AE95727-4AAA-9606-1FC1-3B43F65C1B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2810" y="5261927"/>
            <a:ext cx="4542155" cy="1115695"/>
          </a:xfrm>
          <a:prstGeom prst="rect">
            <a:avLst/>
          </a:prstGeom>
          <a:noFill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CF1F5CE-4DFF-F8F2-3FA4-6120CD8F33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3035" y="3153203"/>
            <a:ext cx="4409758" cy="33059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2637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9766DDD-9AA1-DEB3-992E-9CC804E9F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23" y="2992793"/>
            <a:ext cx="5381664" cy="23574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85B0B7-96E4-2ABA-611B-C6A73CFEF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54674"/>
            <a:ext cx="6834237" cy="14954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BD6EFD-CE0A-2EBC-3757-E868C04C1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3" y="855608"/>
            <a:ext cx="7200953" cy="204312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1BCA581-210C-38DA-C27B-549321B87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690" y="3163922"/>
            <a:ext cx="6777087" cy="159068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4822699-6A07-CAD4-C3ED-AE98A300B58A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文件放置</a:t>
            </a:r>
          </a:p>
        </p:txBody>
      </p:sp>
    </p:spTree>
    <p:extLst>
      <p:ext uri="{BB962C8B-B14F-4D97-AF65-F5344CB8AC3E}">
        <p14:creationId xmlns:p14="http://schemas.microsoft.com/office/powerpoint/2010/main" val="822293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13C186-0107-0141-C55C-5BD0FC5B4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6" y="1623205"/>
            <a:ext cx="5576928" cy="37766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4FE48B-117D-C7C2-CF11-6AE3CC10E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077" y="2364572"/>
            <a:ext cx="4595846" cy="25098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AF3C10-401C-615F-8C22-7E64EB089A0C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样本制作数据生成</a:t>
            </a:r>
          </a:p>
        </p:txBody>
      </p:sp>
    </p:spTree>
    <p:extLst>
      <p:ext uri="{BB962C8B-B14F-4D97-AF65-F5344CB8AC3E}">
        <p14:creationId xmlns:p14="http://schemas.microsoft.com/office/powerpoint/2010/main" val="1422117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7F88-4C1A-15B7-D4A3-329468E0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4D584253-937D-4359-29C6-F61DCF86B8F4}"/>
              </a:ext>
            </a:extLst>
          </p:cNvPr>
          <p:cNvSpPr/>
          <p:nvPr/>
        </p:nvSpPr>
        <p:spPr>
          <a:xfrm>
            <a:off x="337349" y="1020993"/>
            <a:ext cx="11512039" cy="760208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83E19E7-90B7-AB8E-2A37-261F3FEFB04E}"/>
              </a:ext>
            </a:extLst>
          </p:cNvPr>
          <p:cNvSpPr/>
          <p:nvPr/>
        </p:nvSpPr>
        <p:spPr>
          <a:xfrm>
            <a:off x="361466" y="1874479"/>
            <a:ext cx="11499607" cy="4306652"/>
          </a:xfrm>
          <a:prstGeom prst="roundRect">
            <a:avLst>
              <a:gd name="adj" fmla="val 3264"/>
            </a:avLst>
          </a:pr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0" scaled="1"/>
          </a:gradFill>
          <a:ln w="3175">
            <a:solidFill>
              <a:srgbClr val="035097">
                <a:alpha val="37000"/>
              </a:srgbClr>
            </a:solidFill>
            <a:miter lim="800000"/>
          </a:ln>
          <a:effectLst>
            <a:outerShdw blurRad="203200" sx="101000" sy="101000" algn="ctr" rotWithShape="0">
              <a:schemeClr val="tx1">
                <a:lumMod val="65000"/>
                <a:lumOff val="35000"/>
                <a:alpha val="14000"/>
              </a:schemeClr>
            </a:outerShdw>
          </a:effectLst>
        </p:spPr>
        <p:txBody>
          <a:bodyPr rot="10800000" wrap="none" anchor="ctr"/>
          <a:lstStyle/>
          <a:p>
            <a:pPr algn="ctr">
              <a:defRPr/>
            </a:pP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0680EDE-E398-AD09-193A-A6E39D38E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66" y="1191469"/>
            <a:ext cx="11487922" cy="504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2473D1"/>
                </a:solidFill>
                <a:latin typeface="tim"/>
                <a:ea typeface="微软雅黑" panose="020B0503020204020204" pitchFamily="34" charset="-122"/>
              </a:rPr>
              <a:t>参考书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78F503-36DF-D9CB-F885-503B070B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470" y="2142025"/>
            <a:ext cx="2827251" cy="3732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D69D9CF-42C2-90AF-B839-AB7910D066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782" y="2142025"/>
            <a:ext cx="2654861" cy="36949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788B186-1847-D18F-B67F-DAB95EAD0188}"/>
              </a:ext>
            </a:extLst>
          </p:cNvPr>
          <p:cNvSpPr txBox="1"/>
          <p:nvPr/>
        </p:nvSpPr>
        <p:spPr>
          <a:xfrm>
            <a:off x="92346" y="96262"/>
            <a:ext cx="5097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 Chinese Medium" panose="020B0600000000000000" charset="-122"/>
              </a:rPr>
              <a:t>课程安排</a:t>
            </a:r>
          </a:p>
        </p:txBody>
      </p:sp>
    </p:spTree>
    <p:extLst>
      <p:ext uri="{BB962C8B-B14F-4D97-AF65-F5344CB8AC3E}">
        <p14:creationId xmlns:p14="http://schemas.microsoft.com/office/powerpoint/2010/main" val="1740820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D51E69-7BEE-123F-1185-9D2A135951D7}"/>
              </a:ext>
            </a:extLst>
          </p:cNvPr>
          <p:cNvSpPr/>
          <p:nvPr/>
        </p:nvSpPr>
        <p:spPr>
          <a:xfrm>
            <a:off x="1" y="2407614"/>
            <a:ext cx="12191999" cy="1924544"/>
          </a:xfrm>
          <a:prstGeom prst="rect">
            <a:avLst/>
          </a:prstGeom>
          <a:solidFill>
            <a:srgbClr val="02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2385D1-982B-1507-D239-C5EA6D0B6F05}"/>
              </a:ext>
            </a:extLst>
          </p:cNvPr>
          <p:cNvSpPr/>
          <p:nvPr/>
        </p:nvSpPr>
        <p:spPr>
          <a:xfrm>
            <a:off x="1097219" y="2407614"/>
            <a:ext cx="9144000" cy="1924544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95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gradFill flip="none" rotWithShape="1">
              <a:gsLst>
                <a:gs pos="0">
                  <a:schemeClr val="bg1">
                    <a:lumMod val="65000"/>
                    <a:alpha val="0"/>
                  </a:schemeClr>
                </a:gs>
                <a:gs pos="50000">
                  <a:schemeClr val="bg1">
                    <a:lumMod val="65000"/>
                    <a:alpha val="51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1"/>
              <a:tileRect/>
            </a:gradFill>
          </a:ln>
          <a:effectLst>
            <a:outerShdw blurRad="190500" dist="38100" dir="5400000" sx="101000" sy="101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FD2B93-D606-B8AF-CE1F-F37882E66BFC}"/>
              </a:ext>
            </a:extLst>
          </p:cNvPr>
          <p:cNvSpPr txBox="1"/>
          <p:nvPr/>
        </p:nvSpPr>
        <p:spPr>
          <a:xfrm>
            <a:off x="1524000" y="2908221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Heavy" panose="00020600040101010101" pitchFamily="18" charset="-122"/>
              </a:rPr>
              <a:t>谢 谢！</a:t>
            </a:r>
            <a:endParaRPr lang="zh-CN" altLang="en-US" sz="5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817EDC-FCC0-A692-81B4-7DD00BDAAD2A}"/>
              </a:ext>
            </a:extLst>
          </p:cNvPr>
          <p:cNvSpPr txBox="1"/>
          <p:nvPr/>
        </p:nvSpPr>
        <p:spPr>
          <a:xfrm>
            <a:off x="2838149" y="265337"/>
            <a:ext cx="8740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国家自然科学基金委员会矿床学创新研究群体项目</a:t>
            </a:r>
          </a:p>
        </p:txBody>
      </p:sp>
      <p:pic>
        <p:nvPicPr>
          <p:cNvPr id="5" name="图片 4" descr="图片包含 游戏机, 仪表&#10;&#10;描述已自动生成">
            <a:extLst>
              <a:ext uri="{FF2B5EF4-FFF2-40B4-BE49-F238E27FC236}">
                <a16:creationId xmlns:a16="http://schemas.microsoft.com/office/drawing/2014/main" id="{488DD867-15E7-C225-5821-F776AFF625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19" y="85751"/>
            <a:ext cx="906167" cy="715959"/>
          </a:xfrm>
          <a:prstGeom prst="rect">
            <a:avLst/>
          </a:prstGeom>
        </p:spPr>
      </p:pic>
      <p:pic>
        <p:nvPicPr>
          <p:cNvPr id="6" name="图片 5" descr="徽标&#10;&#10;描述已自动生成">
            <a:extLst>
              <a:ext uri="{FF2B5EF4-FFF2-40B4-BE49-F238E27FC236}">
                <a16:creationId xmlns:a16="http://schemas.microsoft.com/office/drawing/2014/main" id="{DB2E984A-9ADB-A314-02AD-37558450645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6161" y="135399"/>
            <a:ext cx="711481" cy="669144"/>
          </a:xfrm>
          <a:prstGeom prst="rect">
            <a:avLst/>
          </a:prstGeom>
        </p:spPr>
      </p:pic>
      <p:pic>
        <p:nvPicPr>
          <p:cNvPr id="7" name="Picture 15" descr="trans_icon">
            <a:extLst>
              <a:ext uri="{FF2B5EF4-FFF2-40B4-BE49-F238E27FC236}">
                <a16:creationId xmlns:a16="http://schemas.microsoft.com/office/drawing/2014/main" id="{459D1FB0-4863-2580-85F4-16602D9EB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24" y="175339"/>
            <a:ext cx="935389" cy="93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C75E20-E9FD-F3C1-BD24-D4286CEC81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881" y="170163"/>
            <a:ext cx="1568648" cy="10476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304B3D3-5D7F-B671-B4C7-9BCB9C5872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142" y="33032"/>
            <a:ext cx="1479689" cy="14796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eb6d73d-5ac4-4f03-a594-3573ec11f896"/>
  <p:tag name="COMMONDATA" val="eyJoZGlkIjoiNWM1N2E3Yjg1N2Y1MzBlMmVhYmFiOWFkODZhNTMyZD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4600</TotalTime>
  <Words>1018</Words>
  <Application>Microsoft Office PowerPoint</Application>
  <PresentationFormat>宽屏</PresentationFormat>
  <Paragraphs>79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tim</vt:lpstr>
      <vt:lpstr>等线</vt:lpstr>
      <vt:lpstr>等线 Light</vt:lpstr>
      <vt:lpstr>Microsoft YaHei</vt:lpstr>
      <vt:lpstr>Microsoft YaHei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Zuo Renguang</dc:creator>
  <cp:lastModifiedBy>Xu Ying</cp:lastModifiedBy>
  <cp:revision>670</cp:revision>
  <dcterms:created xsi:type="dcterms:W3CDTF">2022-12-23T03:18:00Z</dcterms:created>
  <dcterms:modified xsi:type="dcterms:W3CDTF">2025-03-30T15:08:02Z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55AAA5F9E77D40E4846A2D3F05208C01</vt:lpwstr>
  </property>
  <property fmtid="{D5CDD505-2E9C-101B-9397-08002B2CF9AE}" pid="3" name="KSOProductBuildVer">
    <vt:lpwstr>2052-11.1.0.13703</vt:lpwstr>
  </property>
</Properties>
</file>