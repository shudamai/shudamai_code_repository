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3222" r:id="rId2"/>
    <p:sldId id="3611" r:id="rId3"/>
    <p:sldId id="3612" r:id="rId4"/>
    <p:sldId id="3614" r:id="rId5"/>
    <p:sldId id="3615" r:id="rId6"/>
    <p:sldId id="3616" r:id="rId7"/>
    <p:sldId id="3617" r:id="rId8"/>
    <p:sldId id="3618" r:id="rId9"/>
    <p:sldId id="3619" r:id="rId10"/>
    <p:sldId id="3620" r:id="rId11"/>
    <p:sldId id="3621" r:id="rId12"/>
    <p:sldId id="3622" r:id="rId13"/>
    <p:sldId id="3623" r:id="rId14"/>
    <p:sldId id="3624" r:id="rId15"/>
    <p:sldId id="3625" r:id="rId16"/>
    <p:sldId id="3626" r:id="rId17"/>
    <p:sldId id="3627" r:id="rId18"/>
    <p:sldId id="3636" r:id="rId19"/>
    <p:sldId id="3638" r:id="rId20"/>
    <p:sldId id="3639" r:id="rId21"/>
    <p:sldId id="3640" r:id="rId22"/>
    <p:sldId id="3642" r:id="rId23"/>
    <p:sldId id="3644" r:id="rId24"/>
    <p:sldId id="3645" r:id="rId25"/>
    <p:sldId id="3646" r:id="rId26"/>
    <p:sldId id="3648" r:id="rId27"/>
    <p:sldId id="3649" r:id="rId28"/>
    <p:sldId id="2978" r:id="rId29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ngfanfan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3333FF"/>
    <a:srgbClr val="2B7FD1"/>
    <a:srgbClr val="2473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30" autoAdjust="0"/>
    <p:restoredTop sz="93103" autoAdjust="0"/>
  </p:normalViewPr>
  <p:slideViewPr>
    <p:cSldViewPr snapToGrid="0">
      <p:cViewPr varScale="1">
        <p:scale>
          <a:sx n="62" d="100"/>
          <a:sy n="62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89B30-57E0-4F11-862C-A0B3453467B4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77E80-5C4E-414F-A1E0-C609CFFFE4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50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7E80-5C4E-414F-A1E0-C609CFFFE44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978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77E0B-EAAE-87EE-7969-813BA6197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27317B-BDF6-CD1D-0F5A-5EEFA5441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B099FE-780A-91EF-7D33-7086E0A9C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723DE0-B981-2581-FBEB-4B10A18E48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083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ED9C-26A3-54C9-4B64-5C5ECB4F5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35A5AA-6F2E-01C7-E8FA-23EE513C2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652B49-4CBD-C20D-026A-FDFFFBED8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B221F4-5DAD-249E-8BA6-48E576AFE0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55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2C1CD-D713-6BDE-7C80-C4E9464E3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9971BF-9265-DE4C-2543-128EDAF6E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0CC4B0-8F16-8EF1-07E4-3B7B0359A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D7230B-D7FD-4F0B-E089-3016FA4008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126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4F5E6-EB6D-16C1-B0BB-4CE3E6497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5DFA86-2BE0-B7DC-69EF-55AB0BBBB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CD0562-4132-4671-1797-73926D1FD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BB3ECA-2193-B32C-A0BD-FC7422F29D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961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9E4A0-A148-92DD-96D5-60909A7BE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7AAA37-7AF1-2DBF-8968-0B74C0AE7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BDF1BD-4B6A-E809-9DBB-E9C545767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B94C1C-97AC-6921-F285-B89B1A5CFD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515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5EA91-3DE3-56C9-E8A5-419B68470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236347-ADDF-D1D3-59E1-1A7CE8E1C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A8708F-A33A-8384-BC64-E48BF1D25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9AD389-DC3A-1A71-B0C7-F87EDD42F8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778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02CEF-29D3-53C0-9D8A-DE22FCD16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A0D37F-0EB8-18DC-BAE3-8D84F8586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BCB25C-D6FF-2303-3449-897560207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0488E-940E-F836-3E81-0359D15744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528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D6928-8807-4272-3E2F-EAF9F837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321E25-195F-96D7-6166-7EE95BEEF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A6C3C7-4AE4-F4BF-D2CC-CA5769C9A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2DC08C-AF0C-CBC8-7614-5A206113E8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979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756C-E521-6988-3B0D-955E90CCD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808437-2199-0696-BA3B-2649AF147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08BBD4-C2ED-A168-F3C4-EEF890C7A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6AD11C-AD10-BABC-D08D-01B1A95111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943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A4C27-2337-3F52-B5E2-22AB4BA15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D924FC-0008-03E7-66CE-3322519B6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7A023E-D6FF-2D19-8BA4-335F76301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D5F589-3DE0-78EF-2D61-6E522D6022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135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CBBC9-AB86-718C-B701-99858A0A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76F27C-38E5-8E65-3D21-8C63A9449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E5A8DF-9067-D1B8-A055-57F6906B3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33D18E-3A19-C46C-92C4-40E54C706B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0635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66A4B-CE67-8A05-B3FD-3C14EA926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216C85-490A-C04A-3175-CB7AA0C11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E30CD9-2582-F0FF-4355-B2AF47B0D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8F7F7E-D5BB-0FAE-679C-3213C4A173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5129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E979B-E444-2E8A-1A10-E1BA8FD00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D3D0C6-8B34-562B-764B-8313D4F33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2568E6-1B0E-2384-4AC9-0CB9889C6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4F4950-33D2-FDD1-B6E6-464C43032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322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B4F22-B536-6D67-9691-D7F992745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583243-7180-2C75-7582-7321A037F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0EA5A5-1E82-40B4-E69B-078376221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B4C930-9C71-FA9D-A386-BEAD3B7C46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763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81E8B-F184-9218-FDBF-0602482B9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59D62F-72AC-E092-783A-71CB5BA72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33584A-2D89-093C-5EA7-574DEC28F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6B141E-F594-A6CC-C75C-E451EEF973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7219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98569-D072-D308-EE46-FB0ADFE77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03AE39BA-44C6-CF38-9885-20D5217208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D30BF9-706C-BA5F-9D7B-32592AE5A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endParaRPr lang="zh-CN" altLang="en-US" sz="1200" b="1" dirty="0">
              <a:solidFill>
                <a:srgbClr val="0000FF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78FF6823-5ABA-6531-E124-EE5AE9CF19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A9904C-23BF-44EC-A1BC-0BA3F7E6C2C1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2502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7E80-5C4E-414F-A1E0-C609CFFFE44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241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4F494-CE3A-3139-19FA-18F8FF057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1BD498-49B8-6F5F-3569-E2CE02BF1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0766B2-644B-8EBC-7F27-87B39595C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0E0D9-9615-4634-E351-288F95241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7E80-5C4E-414F-A1E0-C609CFFFE44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6729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3AF5D-FC85-502C-350D-3A643D188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BDF79B-4887-6B95-6980-88ED2F460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A240A9-308B-B1FB-B85E-BA2E03745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CBE216-4FB8-B60B-3AE5-41BE75BB4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7E80-5C4E-414F-A1E0-C609CFFFE44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3870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BE7FF-E297-54F6-8F49-9FEB9DEE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62D26E-60A3-08B4-3AE9-EC75AEEDD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803246-E0A6-7DE2-6C3C-5007D7A3A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12640A-C075-75CE-FBE2-C0AD900D9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7E80-5C4E-414F-A1E0-C609CFFFE44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2695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85EF8-7393-2370-4595-461378302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5505E3-91DA-59C6-0B32-54BDA387A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2A2D56-A5EE-05C1-E7A1-54831FFD4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5365AB-1F28-0093-3D51-307827D54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7E80-5C4E-414F-A1E0-C609CFFFE44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4881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070CC-BDBC-6042-5D18-9C6FCBFCC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83F0CD-AAE5-6F8E-05C1-4650A9E6B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66BA8D-6DB2-2846-4BBB-622BB53F2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9B36B5-6668-6D3A-5147-17364550C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7E80-5C4E-414F-A1E0-C609CFFFE44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0805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889BE-5DA4-4024-3531-0EE5815D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7DECC2-8E40-42FE-A2ED-7DDDF6F40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9907B2-A175-FFF1-5B1C-6FC104381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C51CFF-05DC-DC38-53A5-3AF64FAA16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7E80-5C4E-414F-A1E0-C609CFFFE44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4034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0968C-02E7-ABBE-381B-A5F5FDD89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C45EE3-0240-0BC2-AF97-7884FDE1C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9E5B6D-28BA-CD57-87FC-429667F3A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8BB8C5-898E-4A05-240D-FB56F4C8DB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7E80-5C4E-414F-A1E0-C609CFFFE44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4210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3BDBA-2566-C8B3-D798-50F1F956D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CB50E3-BE2E-2EC0-19FA-DB41DF4B8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298618-DAD3-D7BE-4E5F-E8127B1EF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1A541C-C8FA-8551-11FF-961F1A599D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7E80-5C4E-414F-A1E0-C609CFFFE44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3742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0FEAC-8009-B9AB-7EF4-2CCF638FE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7E71F4-1C04-F9D7-7F4B-E46A87026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4ABCC7-FB6E-614D-B0CA-7E8D5F049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198F29-0C0E-5B3F-0BAE-D0B69047B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7E80-5C4E-414F-A1E0-C609CFFFE44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291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312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8325D83-A1A4-42EC-9428-BA513B77D351}"/>
              </a:ext>
            </a:extLst>
          </p:cNvPr>
          <p:cNvSpPr/>
          <p:nvPr userDrawn="1"/>
        </p:nvSpPr>
        <p:spPr>
          <a:xfrm>
            <a:off x="0" y="0"/>
            <a:ext cx="12192000" cy="7920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17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238C6-5FD7-4B91-8E21-F73FFB5A2980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1605621"/>
            <a:ext cx="12192000" cy="4167681"/>
          </a:xfrm>
          <a:prstGeom prst="rect">
            <a:avLst/>
          </a:prstGeom>
          <a:gradFill>
            <a:gsLst>
              <a:gs pos="0">
                <a:srgbClr val="3F96D1"/>
              </a:gs>
              <a:gs pos="100000">
                <a:srgbClr val="1768D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603424" y="2337054"/>
            <a:ext cx="898515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60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地学现代化实习</a:t>
            </a:r>
            <a:r>
              <a:rPr lang="en-US" altLang="zh-CN" sz="60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60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环境配置</a:t>
            </a:r>
          </a:p>
        </p:txBody>
      </p:sp>
      <p:sp>
        <p:nvSpPr>
          <p:cNvPr id="10" name="矩形 11"/>
          <p:cNvSpPr>
            <a:spLocks noChangeArrowheads="1"/>
          </p:cNvSpPr>
          <p:nvPr/>
        </p:nvSpPr>
        <p:spPr bwMode="auto">
          <a:xfrm>
            <a:off x="1377894" y="4489668"/>
            <a:ext cx="9573370" cy="11580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中国地质大学（武汉）</a:t>
            </a:r>
            <a:endParaRPr lang="en-US" altLang="zh-CN" b="1" dirty="0">
              <a:solidFill>
                <a:schemeClr val="bg1"/>
              </a:solidFill>
              <a:effectLst>
                <a:glow rad="76200">
                  <a:srgbClr val="0070C0"/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3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地质过程与成矿预测全国重点实验室</a:t>
            </a:r>
            <a:endParaRPr lang="en-US" altLang="zh-CN" b="1" dirty="0">
              <a:solidFill>
                <a:schemeClr val="bg1"/>
              </a:solidFill>
              <a:effectLst>
                <a:glow rad="76200">
                  <a:srgbClr val="0070C0"/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2"/>
          <p:cNvSpPr>
            <a:spLocks noChangeArrowheads="1"/>
          </p:cNvSpPr>
          <p:nvPr/>
        </p:nvSpPr>
        <p:spPr bwMode="auto">
          <a:xfrm>
            <a:off x="4962461" y="3822646"/>
            <a:ext cx="190500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熊义辉</a:t>
            </a:r>
          </a:p>
        </p:txBody>
      </p:sp>
      <p:sp>
        <p:nvSpPr>
          <p:cNvPr id="12" name="矩形 3"/>
          <p:cNvSpPr>
            <a:spLocks noChangeArrowheads="1"/>
          </p:cNvSpPr>
          <p:nvPr/>
        </p:nvSpPr>
        <p:spPr bwMode="auto">
          <a:xfrm>
            <a:off x="5121470" y="5935447"/>
            <a:ext cx="1745991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Picture 15" descr="trans_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73" y="211696"/>
            <a:ext cx="1071735" cy="1071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384" y="217682"/>
            <a:ext cx="1835422" cy="12257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72242-4B75-BF85-D990-23DC8BE2B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D34E7C69-D70C-B38D-7531-ABC7AB4587DC}"/>
              </a:ext>
            </a:extLst>
          </p:cNvPr>
          <p:cNvSpPr/>
          <p:nvPr/>
        </p:nvSpPr>
        <p:spPr>
          <a:xfrm>
            <a:off x="339941" y="1944702"/>
            <a:ext cx="11512118" cy="4724783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844CB7-89E7-B90A-F30A-53DBB5D8A47C}"/>
              </a:ext>
            </a:extLst>
          </p:cNvPr>
          <p:cNvSpPr txBox="1"/>
          <p:nvPr/>
        </p:nvSpPr>
        <p:spPr>
          <a:xfrm>
            <a:off x="0" y="121748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语言初步使用方法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DD129BB-A009-65C7-4B0C-8B0A01B746F5}"/>
              </a:ext>
            </a:extLst>
          </p:cNvPr>
          <p:cNvSpPr/>
          <p:nvPr/>
        </p:nvSpPr>
        <p:spPr>
          <a:xfrm>
            <a:off x="293850" y="949279"/>
            <a:ext cx="11525417" cy="851988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5EC4152-8ED1-E596-6A7C-DB4386A88077}"/>
              </a:ext>
            </a:extLst>
          </p:cNvPr>
          <p:cNvSpPr/>
          <p:nvPr/>
        </p:nvSpPr>
        <p:spPr>
          <a:xfrm>
            <a:off x="372733" y="1047675"/>
            <a:ext cx="11525417" cy="48955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使用之前需要安装部分工具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F58832-D142-F570-F39B-798AFC195722}"/>
              </a:ext>
            </a:extLst>
          </p:cNvPr>
          <p:cNvSpPr/>
          <p:nvPr/>
        </p:nvSpPr>
        <p:spPr>
          <a:xfrm>
            <a:off x="448268" y="1992055"/>
            <a:ext cx="11374346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解释器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解释器的名称由</a:t>
            </a:r>
            <a:r>
              <a:rPr lang="en-US" alt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与版本号组成，如 </a:t>
            </a:r>
            <a:r>
              <a:rPr lang="en-US" alt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3.9.0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p"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解释器是向计算机解释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语言的工具，只有下载了解释器，才能进行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编程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代码编辑器：编辑代码的工具，使用代码编辑器前必须下载 </a:t>
            </a:r>
            <a:r>
              <a:rPr lang="en-US" alt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解释器</a:t>
            </a:r>
            <a:endParaRPr lang="en-US" altLang="zh-CN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p"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常用的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代码编辑器有 </a:t>
            </a:r>
            <a:r>
              <a:rPr lang="en-US" altLang="zh-CN" sz="2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Jupyter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Notebook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PyCharm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Visual Studio Code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；类似的，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的代码编辑器包括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Visual C++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Dev C++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Visual Studio Code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Anaconda 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环境集成平台：</a:t>
            </a:r>
            <a:r>
              <a:rPr lang="en-US" alt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Anaconda 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是一款巨大的 </a:t>
            </a:r>
            <a:r>
              <a:rPr lang="en-US" alt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环境集成平台</a:t>
            </a:r>
            <a:endParaRPr lang="en-US" altLang="zh-CN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p"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方便快捷的管理工具。其内含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解释器、</a:t>
            </a:r>
            <a:r>
              <a:rPr lang="en-US" altLang="zh-CN" sz="2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Jupyter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Notebook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代码编辑器及很多三方库</a:t>
            </a:r>
          </a:p>
        </p:txBody>
      </p:sp>
    </p:spTree>
    <p:extLst>
      <p:ext uri="{BB962C8B-B14F-4D97-AF65-F5344CB8AC3E}">
        <p14:creationId xmlns:p14="http://schemas.microsoft.com/office/powerpoint/2010/main" val="1546156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AA49-3CA8-5CC4-080A-DFDA0B896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E830A14C-E559-9F13-735C-9C096828B774}"/>
              </a:ext>
            </a:extLst>
          </p:cNvPr>
          <p:cNvSpPr/>
          <p:nvPr/>
        </p:nvSpPr>
        <p:spPr>
          <a:xfrm>
            <a:off x="339941" y="1944702"/>
            <a:ext cx="11512118" cy="4724783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812CB0E-5CAA-E095-2EA1-C2BEEB507CD3}"/>
              </a:ext>
            </a:extLst>
          </p:cNvPr>
          <p:cNvSpPr txBox="1"/>
          <p:nvPr/>
        </p:nvSpPr>
        <p:spPr>
          <a:xfrm>
            <a:off x="0" y="121748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语言初步使用方法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7101B59-4E2D-9B21-7D05-6277C74A3779}"/>
              </a:ext>
            </a:extLst>
          </p:cNvPr>
          <p:cNvSpPr/>
          <p:nvPr/>
        </p:nvSpPr>
        <p:spPr>
          <a:xfrm>
            <a:off x="293850" y="949279"/>
            <a:ext cx="11525417" cy="851988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1178DD0-60A3-363C-F1C7-9DC8F9019941}"/>
              </a:ext>
            </a:extLst>
          </p:cNvPr>
          <p:cNvSpPr/>
          <p:nvPr/>
        </p:nvSpPr>
        <p:spPr>
          <a:xfrm>
            <a:off x="372733" y="1047675"/>
            <a:ext cx="11525417" cy="48955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以及</a:t>
            </a:r>
            <a:r>
              <a:rPr lang="en-US" altLang="zh-CN" sz="2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Pycharm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9D80DD9-C98B-F3BA-CFD7-8F74D51E6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94" y="2901565"/>
            <a:ext cx="4975829" cy="240715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395EF25-F660-0E6B-487C-744112278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662" y="2875505"/>
            <a:ext cx="4791125" cy="246754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347BBCF-AAAA-6B25-5324-B1A6A2C9E183}"/>
              </a:ext>
            </a:extLst>
          </p:cNvPr>
          <p:cNvSpPr/>
          <p:nvPr/>
        </p:nvSpPr>
        <p:spPr>
          <a:xfrm>
            <a:off x="1287892" y="5810325"/>
            <a:ext cx="44161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官网（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www.python.org/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91182E-DD4E-FA6A-8107-FCD51A59DE3A}"/>
              </a:ext>
            </a:extLst>
          </p:cNvPr>
          <p:cNvSpPr/>
          <p:nvPr/>
        </p:nvSpPr>
        <p:spPr>
          <a:xfrm>
            <a:off x="5833723" y="5810325"/>
            <a:ext cx="61690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Pycharm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官网（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www.jetbrains.com/pycharm/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62055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E7423-6670-72D6-D5BB-78B05CADF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6FB0F37B-2934-F936-6835-8542E36A1A75}"/>
              </a:ext>
            </a:extLst>
          </p:cNvPr>
          <p:cNvSpPr/>
          <p:nvPr/>
        </p:nvSpPr>
        <p:spPr>
          <a:xfrm>
            <a:off x="339941" y="1944702"/>
            <a:ext cx="11512118" cy="4724783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8BDA53-FD8F-641F-E8F3-FDFF97C622F5}"/>
              </a:ext>
            </a:extLst>
          </p:cNvPr>
          <p:cNvSpPr txBox="1"/>
          <p:nvPr/>
        </p:nvSpPr>
        <p:spPr>
          <a:xfrm>
            <a:off x="0" y="121748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语言初步使用方法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DD3FC54-7F94-D619-7481-E6402EF6E00B}"/>
              </a:ext>
            </a:extLst>
          </p:cNvPr>
          <p:cNvSpPr/>
          <p:nvPr/>
        </p:nvSpPr>
        <p:spPr>
          <a:xfrm>
            <a:off x="293850" y="949279"/>
            <a:ext cx="11525417" cy="851988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43719E9-9EDA-440F-6D5A-1556DBCB8FA3}"/>
              </a:ext>
            </a:extLst>
          </p:cNvPr>
          <p:cNvSpPr/>
          <p:nvPr/>
        </p:nvSpPr>
        <p:spPr>
          <a:xfrm>
            <a:off x="339941" y="917666"/>
            <a:ext cx="11525417" cy="136979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Anaconda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安装：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Anaconda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官方服务器在国外，常规下载速度很慢，推荐使用中国大学的镜像源下载</a:t>
            </a:r>
          </a:p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C65238-0776-886A-12C7-9EF32B07B14A}"/>
              </a:ext>
            </a:extLst>
          </p:cNvPr>
          <p:cNvSpPr/>
          <p:nvPr/>
        </p:nvSpPr>
        <p:spPr>
          <a:xfrm>
            <a:off x="2561708" y="5346046"/>
            <a:ext cx="8031045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Anaconda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官方网站</a:t>
            </a:r>
          </a:p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（官方网站：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/www.anaconda.com/download/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（国内镜像：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https://mirrors.bfsu.edu.cn/anaconda/archive/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  <a:p>
            <a:endParaRPr lang="zh-CN" altLang="en-US" sz="2000" b="1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833D2BB-9FAA-3C7B-34B6-96D8BC3208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944"/>
          <a:stretch/>
        </p:blipFill>
        <p:spPr>
          <a:xfrm>
            <a:off x="2883525" y="2044023"/>
            <a:ext cx="6471504" cy="329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242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E4A44-79F7-9709-8BE1-EB114301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2C00EA8F-1C44-795D-027E-2C27DBEFF113}"/>
              </a:ext>
            </a:extLst>
          </p:cNvPr>
          <p:cNvSpPr/>
          <p:nvPr/>
        </p:nvSpPr>
        <p:spPr>
          <a:xfrm>
            <a:off x="339941" y="1944702"/>
            <a:ext cx="11512118" cy="4724783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DC6D30-ADA3-4CB6-86B8-746D446CEC35}"/>
              </a:ext>
            </a:extLst>
          </p:cNvPr>
          <p:cNvSpPr txBox="1"/>
          <p:nvPr/>
        </p:nvSpPr>
        <p:spPr>
          <a:xfrm>
            <a:off x="0" y="121748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语言初步使用方法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A257C5E-58A7-3D3A-68A7-72254852FF70}"/>
              </a:ext>
            </a:extLst>
          </p:cNvPr>
          <p:cNvSpPr/>
          <p:nvPr/>
        </p:nvSpPr>
        <p:spPr>
          <a:xfrm>
            <a:off x="293850" y="949279"/>
            <a:ext cx="11525417" cy="851988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7A527CE-28C2-BAD8-1AE1-2F1CA27F6924}"/>
              </a:ext>
            </a:extLst>
          </p:cNvPr>
          <p:cNvSpPr/>
          <p:nvPr/>
        </p:nvSpPr>
        <p:spPr>
          <a:xfrm>
            <a:off x="372733" y="1096808"/>
            <a:ext cx="11525417" cy="92967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选择操作系统对应的版本：</a:t>
            </a:r>
          </a:p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A7A7B0-081B-5033-3820-52432B1555C5}"/>
              </a:ext>
            </a:extLst>
          </p:cNvPr>
          <p:cNvSpPr/>
          <p:nvPr/>
        </p:nvSpPr>
        <p:spPr>
          <a:xfrm>
            <a:off x="1368276" y="6219047"/>
            <a:ext cx="90367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详细安装教程参考官方网站：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https://anaconda.org.cn/anaconda/install/</a:t>
            </a:r>
          </a:p>
          <a:p>
            <a:endParaRPr lang="zh-CN" altLang="en-US" sz="2000" b="1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图形用户界面, 应用程序&#10;&#10;描述已自动生成">
            <a:extLst>
              <a:ext uri="{FF2B5EF4-FFF2-40B4-BE49-F238E27FC236}">
                <a16:creationId xmlns:a16="http://schemas.microsoft.com/office/drawing/2014/main" id="{6BC329A3-9708-0045-EA9C-486385F9B0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31" r="5569"/>
          <a:stretch/>
        </p:blipFill>
        <p:spPr>
          <a:xfrm>
            <a:off x="1943300" y="2036327"/>
            <a:ext cx="7768408" cy="418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32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9A6E2-6A4D-89D1-0B59-48B89BE3F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CDBCF69F-4933-DAC0-C98A-3A56F22A8C37}"/>
              </a:ext>
            </a:extLst>
          </p:cNvPr>
          <p:cNvSpPr/>
          <p:nvPr/>
        </p:nvSpPr>
        <p:spPr>
          <a:xfrm>
            <a:off x="339941" y="1944702"/>
            <a:ext cx="11512118" cy="4724783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2C4949-DB6A-78DF-A239-05D4E6CBD9DF}"/>
              </a:ext>
            </a:extLst>
          </p:cNvPr>
          <p:cNvSpPr txBox="1"/>
          <p:nvPr/>
        </p:nvSpPr>
        <p:spPr>
          <a:xfrm>
            <a:off x="0" y="121748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语言初步使用方法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BD66E72-884D-701F-26A4-6173E3376D91}"/>
              </a:ext>
            </a:extLst>
          </p:cNvPr>
          <p:cNvSpPr/>
          <p:nvPr/>
        </p:nvSpPr>
        <p:spPr>
          <a:xfrm>
            <a:off x="293850" y="949279"/>
            <a:ext cx="11525417" cy="851988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EAC9872-F24D-285C-1685-1EA362A01AFA}"/>
              </a:ext>
            </a:extLst>
          </p:cNvPr>
          <p:cNvSpPr/>
          <p:nvPr/>
        </p:nvSpPr>
        <p:spPr>
          <a:xfrm>
            <a:off x="372733" y="1096808"/>
            <a:ext cx="11525417" cy="48955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配置镜像源。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EA026E-40D0-51B5-6579-8C678CF75F2F}"/>
              </a:ext>
            </a:extLst>
          </p:cNvPr>
          <p:cNvSpPr/>
          <p:nvPr/>
        </p:nvSpPr>
        <p:spPr>
          <a:xfrm>
            <a:off x="6730789" y="5961599"/>
            <a:ext cx="407996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Anaconda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镜像源配置</a:t>
            </a:r>
          </a:p>
          <a:p>
            <a:endParaRPr lang="zh-CN" altLang="en-US" sz="2000" b="1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 descr="图形用户界面&#10;&#10;描述已自动生成">
            <a:extLst>
              <a:ext uri="{FF2B5EF4-FFF2-40B4-BE49-F238E27FC236}">
                <a16:creationId xmlns:a16="http://schemas.microsoft.com/office/drawing/2014/main" id="{ECF5945C-53DF-91CF-41E0-5CCCDF458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530" y="2068733"/>
            <a:ext cx="6816990" cy="369245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AB243F9-1EF6-B268-BD6D-4A30F733B4A0}"/>
              </a:ext>
            </a:extLst>
          </p:cNvPr>
          <p:cNvSpPr txBox="1"/>
          <p:nvPr/>
        </p:nvSpPr>
        <p:spPr>
          <a:xfrm>
            <a:off x="413864" y="2148164"/>
            <a:ext cx="4413821" cy="3533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chemeClr val="tx1"/>
              </a:buClr>
              <a:defRPr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以清华镜像源（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https://mirrors4.tuna.tsinghua.edu.cn/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）为例，地址为：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https://mirrors.tuna.tsinghua.edu.cn/anaconda/pkgs/main</a:t>
            </a:r>
            <a:endParaRPr lang="zh-CN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https://mirrors.tuna.tsinghua.edu.cn/anaconda/pkgs/r</a:t>
            </a:r>
            <a:endParaRPr lang="zh-CN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https://mirrors.tuna.tsinghua.edu.cn/anaconda/pkgs/msys2</a:t>
            </a:r>
            <a:endParaRPr lang="zh-CN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51755B1-18E3-F72A-1B8A-1E0E0F98B501}"/>
              </a:ext>
            </a:extLst>
          </p:cNvPr>
          <p:cNvSpPr txBox="1"/>
          <p:nvPr/>
        </p:nvSpPr>
        <p:spPr>
          <a:xfrm>
            <a:off x="413864" y="5591090"/>
            <a:ext cx="8521872" cy="10481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 indent="266700" algn="just">
              <a:lnSpc>
                <a:spcPct val="200000"/>
              </a:lnSpc>
              <a:buFont typeface="Wingdings" panose="05000000000000000000" pitchFamily="2" charset="2"/>
              <a:buChar char="p"/>
              <a:defRPr sz="1200" b="1">
                <a:solidFill>
                  <a:srgbClr val="0000F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zh-CN" sz="2200" dirty="0">
                <a:solidFill>
                  <a:schemeClr val="tx1"/>
                </a:solidFill>
                <a:latin typeface="微软雅黑" panose="020B0503020204020204" pitchFamily="34" charset="-122"/>
              </a:rPr>
              <a:t>打开</a:t>
            </a: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</a:rPr>
              <a:t>Anaconda Navigator</a:t>
            </a:r>
            <a:endParaRPr lang="zh-CN" altLang="zh-CN" sz="2200" dirty="0">
              <a:solidFill>
                <a:schemeClr val="tx1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200" dirty="0">
                <a:solidFill>
                  <a:schemeClr val="tx1"/>
                </a:solidFill>
                <a:latin typeface="微软雅黑" panose="020B0503020204020204" pitchFamily="34" charset="-122"/>
              </a:rPr>
              <a:t>添加清华镜像源地址，点击</a:t>
            </a: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</a:rPr>
              <a:t>update channels</a:t>
            </a:r>
            <a:endParaRPr lang="zh-CN" altLang="zh-CN" sz="2200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2571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9218-5553-4C4E-147C-A4DCACC6B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86D95A84-DC30-7CF4-C007-01EFCEDD5DB0}"/>
              </a:ext>
            </a:extLst>
          </p:cNvPr>
          <p:cNvSpPr/>
          <p:nvPr/>
        </p:nvSpPr>
        <p:spPr>
          <a:xfrm>
            <a:off x="339941" y="1944702"/>
            <a:ext cx="11512118" cy="4724783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DF5156-AADE-E2A5-FB3D-BFADD8DF395F}"/>
              </a:ext>
            </a:extLst>
          </p:cNvPr>
          <p:cNvSpPr txBox="1"/>
          <p:nvPr/>
        </p:nvSpPr>
        <p:spPr>
          <a:xfrm>
            <a:off x="0" y="121748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语言初步使用方法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92CF9B4-CCDE-D658-F0C1-E2A49300CA0A}"/>
              </a:ext>
            </a:extLst>
          </p:cNvPr>
          <p:cNvSpPr/>
          <p:nvPr/>
        </p:nvSpPr>
        <p:spPr>
          <a:xfrm>
            <a:off x="293850" y="949279"/>
            <a:ext cx="11525417" cy="851988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F73E417-1753-AC1B-6F8B-B473CDD9DA2B}"/>
              </a:ext>
            </a:extLst>
          </p:cNvPr>
          <p:cNvSpPr/>
          <p:nvPr/>
        </p:nvSpPr>
        <p:spPr>
          <a:xfrm>
            <a:off x="372733" y="1096808"/>
            <a:ext cx="11525417" cy="48955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虚拟环境，并安装指定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版本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084DD3A-2BC1-FFA5-060C-14F434D12359}"/>
              </a:ext>
            </a:extLst>
          </p:cNvPr>
          <p:cNvSpPr/>
          <p:nvPr/>
        </p:nvSpPr>
        <p:spPr>
          <a:xfrm>
            <a:off x="4227065" y="6217316"/>
            <a:ext cx="3816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Anaconda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中创建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134AE2-21D5-7799-6260-BB0C1540F19D}"/>
              </a:ext>
            </a:extLst>
          </p:cNvPr>
          <p:cNvSpPr txBox="1"/>
          <p:nvPr/>
        </p:nvSpPr>
        <p:spPr>
          <a:xfrm>
            <a:off x="372733" y="1801267"/>
            <a:ext cx="1161188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Clr>
                <a:schemeClr val="tx1"/>
              </a:buClr>
              <a:defRPr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打开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Anaconda Prompt</a:t>
            </a:r>
          </a:p>
          <a:p>
            <a:pPr>
              <a:lnSpc>
                <a:spcPct val="150000"/>
              </a:lnSpc>
              <a:buClr>
                <a:schemeClr val="tx1"/>
              </a:buClr>
              <a:defRPr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输入：</a:t>
            </a:r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conda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create -n tensorflow2.1 python=3.7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，创建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环境，返回如下所示的界面。其中，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tensorflow2.1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是环境的名字，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3.7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的版本</a:t>
            </a:r>
          </a:p>
        </p:txBody>
      </p:sp>
      <p:pic>
        <p:nvPicPr>
          <p:cNvPr id="6" name="图片 5" descr="文本&#10;&#10;描述已自动生成">
            <a:extLst>
              <a:ext uri="{FF2B5EF4-FFF2-40B4-BE49-F238E27FC236}">
                <a16:creationId xmlns:a16="http://schemas.microsoft.com/office/drawing/2014/main" id="{59FC94ED-993E-F1AC-4E71-0841E0C0D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253" y="3278595"/>
            <a:ext cx="5619711" cy="293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473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43FF1-005B-E436-32CC-1482200B8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200D19D4-35B5-FE4D-C65E-3AAA19F90F9A}"/>
              </a:ext>
            </a:extLst>
          </p:cNvPr>
          <p:cNvSpPr/>
          <p:nvPr/>
        </p:nvSpPr>
        <p:spPr>
          <a:xfrm>
            <a:off x="339941" y="1944702"/>
            <a:ext cx="11512118" cy="4724783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A79899-5872-2494-7919-32DA2034520C}"/>
              </a:ext>
            </a:extLst>
          </p:cNvPr>
          <p:cNvSpPr txBox="1"/>
          <p:nvPr/>
        </p:nvSpPr>
        <p:spPr>
          <a:xfrm>
            <a:off x="0" y="121748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语言初步使用方法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05B13F2-DA94-B223-0584-7BE1E2760139}"/>
              </a:ext>
            </a:extLst>
          </p:cNvPr>
          <p:cNvSpPr/>
          <p:nvPr/>
        </p:nvSpPr>
        <p:spPr>
          <a:xfrm>
            <a:off x="293850" y="949279"/>
            <a:ext cx="11525417" cy="851988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77DD5E2-404A-F7D4-5110-800539B43D3C}"/>
              </a:ext>
            </a:extLst>
          </p:cNvPr>
          <p:cNvSpPr/>
          <p:nvPr/>
        </p:nvSpPr>
        <p:spPr>
          <a:xfrm>
            <a:off x="372733" y="1096808"/>
            <a:ext cx="11525417" cy="48955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输入：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，耐心等待一段时间后，完成环境创建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315E81-0143-8D8E-7CA3-670D60F106EB}"/>
              </a:ext>
            </a:extLst>
          </p:cNvPr>
          <p:cNvSpPr/>
          <p:nvPr/>
        </p:nvSpPr>
        <p:spPr>
          <a:xfrm>
            <a:off x="4010287" y="6150114"/>
            <a:ext cx="353186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完成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环境创建</a:t>
            </a:r>
          </a:p>
          <a:p>
            <a:endParaRPr lang="zh-CN" altLang="en-US" sz="2000" b="1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 descr="文本&#10;&#10;描述已自动生成">
            <a:extLst>
              <a:ext uri="{FF2B5EF4-FFF2-40B4-BE49-F238E27FC236}">
                <a16:creationId xmlns:a16="http://schemas.microsoft.com/office/drawing/2014/main" id="{C80E7B31-03D4-4CBA-E794-36F32F873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210" y="2044024"/>
            <a:ext cx="7390457" cy="386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57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7787F-DFB9-B264-E4E1-C8672C08A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BC2DD44C-CB97-6952-2DBD-10F47CCD091D}"/>
              </a:ext>
            </a:extLst>
          </p:cNvPr>
          <p:cNvSpPr/>
          <p:nvPr/>
        </p:nvSpPr>
        <p:spPr>
          <a:xfrm>
            <a:off x="339941" y="1944702"/>
            <a:ext cx="11512118" cy="4724783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0FCEAE-2EF7-15D7-42B3-EC2C63FA4D3F}"/>
              </a:ext>
            </a:extLst>
          </p:cNvPr>
          <p:cNvSpPr txBox="1"/>
          <p:nvPr/>
        </p:nvSpPr>
        <p:spPr>
          <a:xfrm>
            <a:off x="0" y="121748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语言初步使用方法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421F901-E1DE-C268-EB52-867EAE594DCC}"/>
              </a:ext>
            </a:extLst>
          </p:cNvPr>
          <p:cNvSpPr/>
          <p:nvPr/>
        </p:nvSpPr>
        <p:spPr>
          <a:xfrm>
            <a:off x="293850" y="949279"/>
            <a:ext cx="11525417" cy="851988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680F245-4D43-BFD3-F3B6-4723FE6D5D08}"/>
              </a:ext>
            </a:extLst>
          </p:cNvPr>
          <p:cNvSpPr/>
          <p:nvPr/>
        </p:nvSpPr>
        <p:spPr>
          <a:xfrm>
            <a:off x="372733" y="1096808"/>
            <a:ext cx="11525417" cy="48955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输入：</a:t>
            </a:r>
            <a:r>
              <a:rPr lang="en-US" altLang="zh-CN" sz="2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conda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activate tensorflow2.1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，激活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ABB3BF-D8E4-7741-76C7-01EB15EE4B80}"/>
              </a:ext>
            </a:extLst>
          </p:cNvPr>
          <p:cNvSpPr/>
          <p:nvPr/>
        </p:nvSpPr>
        <p:spPr>
          <a:xfrm>
            <a:off x="3628676" y="6150114"/>
            <a:ext cx="429508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Anaconda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中激活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</a:t>
            </a:r>
          </a:p>
          <a:p>
            <a:endParaRPr lang="zh-CN" altLang="en-US" sz="2000" b="1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文本&#10;&#10;描述已自动生成">
            <a:extLst>
              <a:ext uri="{FF2B5EF4-FFF2-40B4-BE49-F238E27FC236}">
                <a16:creationId xmlns:a16="http://schemas.microsoft.com/office/drawing/2014/main" id="{4F075B1D-B837-B37A-E21B-C21AB76F4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283" y="2044024"/>
            <a:ext cx="7776214" cy="406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25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6DF6E-B7C5-B86E-4985-8CE80F5E3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2B7A4A7D-33FC-2118-6C91-78659C63D6D9}"/>
              </a:ext>
            </a:extLst>
          </p:cNvPr>
          <p:cNvSpPr/>
          <p:nvPr/>
        </p:nvSpPr>
        <p:spPr>
          <a:xfrm>
            <a:off x="339941" y="1944702"/>
            <a:ext cx="11512118" cy="4724783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0575DC-6183-1517-6365-41D7FBBD71E4}"/>
              </a:ext>
            </a:extLst>
          </p:cNvPr>
          <p:cNvSpPr txBox="1"/>
          <p:nvPr/>
        </p:nvSpPr>
        <p:spPr>
          <a:xfrm>
            <a:off x="0" y="121748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语言初步使用方法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D28B63A-03B6-6768-AA0D-CACB7B1ACF3C}"/>
              </a:ext>
            </a:extLst>
          </p:cNvPr>
          <p:cNvSpPr/>
          <p:nvPr/>
        </p:nvSpPr>
        <p:spPr>
          <a:xfrm>
            <a:off x="293850" y="949279"/>
            <a:ext cx="11525417" cy="851988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F1086D4-AF17-ACD0-3009-71283E920B5E}"/>
              </a:ext>
            </a:extLst>
          </p:cNvPr>
          <p:cNvSpPr/>
          <p:nvPr/>
        </p:nvSpPr>
        <p:spPr>
          <a:xfrm>
            <a:off x="372733" y="1096808"/>
            <a:ext cx="11525417" cy="48955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输入：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pip install </a:t>
            </a:r>
            <a:r>
              <a:rPr lang="en-US" altLang="zh-CN" sz="2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==2.1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，安装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DA1D04-1BE8-CCDF-1886-BA198B05F8DE}"/>
              </a:ext>
            </a:extLst>
          </p:cNvPr>
          <p:cNvSpPr/>
          <p:nvPr/>
        </p:nvSpPr>
        <p:spPr>
          <a:xfrm>
            <a:off x="1229090" y="5952844"/>
            <a:ext cx="26390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</a:t>
            </a:r>
          </a:p>
        </p:txBody>
      </p:sp>
      <p:pic>
        <p:nvPicPr>
          <p:cNvPr id="2" name="图片 1" descr="文本&#10;&#10;描述已自动生成">
            <a:extLst>
              <a:ext uri="{FF2B5EF4-FFF2-40B4-BE49-F238E27FC236}">
                <a16:creationId xmlns:a16="http://schemas.microsoft.com/office/drawing/2014/main" id="{B84F9B83-0AAF-68FE-EBD1-7A4D659680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2279"/>
          <a:stretch/>
        </p:blipFill>
        <p:spPr>
          <a:xfrm>
            <a:off x="386583" y="2288522"/>
            <a:ext cx="4421988" cy="3414560"/>
          </a:xfrm>
          <a:prstGeom prst="rect">
            <a:avLst/>
          </a:prstGeom>
        </p:spPr>
      </p:pic>
      <p:pic>
        <p:nvPicPr>
          <p:cNvPr id="8" name="图片 7" descr="文本&#10;&#10;描述已自动生成">
            <a:extLst>
              <a:ext uri="{FF2B5EF4-FFF2-40B4-BE49-F238E27FC236}">
                <a16:creationId xmlns:a16="http://schemas.microsoft.com/office/drawing/2014/main" id="{B15AB6BD-B806-8CA1-A7DB-583E51E73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708" y="2288522"/>
            <a:ext cx="6640784" cy="347267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A8F970F-6699-CC07-0084-BEC0D7432111}"/>
              </a:ext>
            </a:extLst>
          </p:cNvPr>
          <p:cNvSpPr/>
          <p:nvPr/>
        </p:nvSpPr>
        <p:spPr>
          <a:xfrm>
            <a:off x="6307092" y="5946920"/>
            <a:ext cx="31520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环境配置成功</a:t>
            </a:r>
          </a:p>
        </p:txBody>
      </p:sp>
    </p:spTree>
    <p:extLst>
      <p:ext uri="{BB962C8B-B14F-4D97-AF65-F5344CB8AC3E}">
        <p14:creationId xmlns:p14="http://schemas.microsoft.com/office/powerpoint/2010/main" val="2918114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2DC44-BB2B-4D10-8E3F-9169FF556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765A1E0C-CD01-A494-2A23-F00A0290B537}"/>
              </a:ext>
            </a:extLst>
          </p:cNvPr>
          <p:cNvSpPr/>
          <p:nvPr/>
        </p:nvSpPr>
        <p:spPr>
          <a:xfrm>
            <a:off x="339941" y="1944702"/>
            <a:ext cx="11512118" cy="4724783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B5CDCF-4191-54F5-F0B8-7904F64DC59C}"/>
              </a:ext>
            </a:extLst>
          </p:cNvPr>
          <p:cNvSpPr txBox="1"/>
          <p:nvPr/>
        </p:nvSpPr>
        <p:spPr>
          <a:xfrm>
            <a:off x="0" y="121748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语言初步使用方法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6158CCA-B5CD-620C-E377-52CD19ED806E}"/>
              </a:ext>
            </a:extLst>
          </p:cNvPr>
          <p:cNvSpPr/>
          <p:nvPr/>
        </p:nvSpPr>
        <p:spPr>
          <a:xfrm>
            <a:off x="293850" y="949279"/>
            <a:ext cx="11525417" cy="851988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0777495-3AF3-4741-51ED-38FADE0EB508}"/>
              </a:ext>
            </a:extLst>
          </p:cNvPr>
          <p:cNvSpPr/>
          <p:nvPr/>
        </p:nvSpPr>
        <p:spPr>
          <a:xfrm>
            <a:off x="372733" y="1096808"/>
            <a:ext cx="11525417" cy="48955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输入：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pip install </a:t>
            </a:r>
            <a:r>
              <a:rPr lang="en-US" altLang="zh-CN" sz="2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scikit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-learn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，安装机器学习库</a:t>
            </a:r>
            <a:r>
              <a:rPr lang="en-US" altLang="zh-CN" sz="2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scikit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-learn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6E3CBD-F99A-F8B6-A478-3E8C5FDAD92A}"/>
              </a:ext>
            </a:extLst>
          </p:cNvPr>
          <p:cNvSpPr/>
          <p:nvPr/>
        </p:nvSpPr>
        <p:spPr>
          <a:xfrm>
            <a:off x="811989" y="5952844"/>
            <a:ext cx="34732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scikit-learn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机器学习库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F8C2C1F-78E6-0147-8D48-9F9E0881C7D3}"/>
              </a:ext>
            </a:extLst>
          </p:cNvPr>
          <p:cNvSpPr/>
          <p:nvPr/>
        </p:nvSpPr>
        <p:spPr>
          <a:xfrm>
            <a:off x="6801920" y="5952844"/>
            <a:ext cx="39092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scikit-learn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机器学习库安装成功</a:t>
            </a:r>
          </a:p>
          <a:p>
            <a:pPr algn="ctr"/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文本&#10;&#10;描述已自动生成">
            <a:extLst>
              <a:ext uri="{FF2B5EF4-FFF2-40B4-BE49-F238E27FC236}">
                <a16:creationId xmlns:a16="http://schemas.microsoft.com/office/drawing/2014/main" id="{8FA7C329-1615-BC2F-DE31-117AD72E8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28" y="2645466"/>
            <a:ext cx="5400000" cy="2823826"/>
          </a:xfrm>
          <a:prstGeom prst="rect">
            <a:avLst/>
          </a:prstGeom>
        </p:spPr>
      </p:pic>
      <p:pic>
        <p:nvPicPr>
          <p:cNvPr id="11" name="图片 10" descr="文本&#10;&#10;描述已自动生成">
            <a:extLst>
              <a:ext uri="{FF2B5EF4-FFF2-40B4-BE49-F238E27FC236}">
                <a16:creationId xmlns:a16="http://schemas.microsoft.com/office/drawing/2014/main" id="{D2BE729F-675A-A8B1-3985-46233FB10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558" y="2645466"/>
            <a:ext cx="5400000" cy="282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951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E6667-1E5C-B0DD-C005-2E31A835C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2ED60416-8206-3E71-1927-87D50901CBCA}"/>
              </a:ext>
            </a:extLst>
          </p:cNvPr>
          <p:cNvSpPr/>
          <p:nvPr/>
        </p:nvSpPr>
        <p:spPr>
          <a:xfrm>
            <a:off x="339941" y="2608857"/>
            <a:ext cx="11512118" cy="4060628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921AAC-61CE-0FB6-EF8B-E9BD2F2818DA}"/>
              </a:ext>
            </a:extLst>
          </p:cNvPr>
          <p:cNvSpPr txBox="1"/>
          <p:nvPr/>
        </p:nvSpPr>
        <p:spPr>
          <a:xfrm>
            <a:off x="0" y="121748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语言初步使用方法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D167525-A57F-35F7-3946-59B461D7DC3E}"/>
              </a:ext>
            </a:extLst>
          </p:cNvPr>
          <p:cNvSpPr/>
          <p:nvPr/>
        </p:nvSpPr>
        <p:spPr>
          <a:xfrm>
            <a:off x="293850" y="962713"/>
            <a:ext cx="11525417" cy="1477131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FE8B22A-8696-E357-7166-DFFA588F54E0}"/>
              </a:ext>
            </a:extLst>
          </p:cNvPr>
          <p:cNvSpPr/>
          <p:nvPr/>
        </p:nvSpPr>
        <p:spPr>
          <a:xfrm>
            <a:off x="326642" y="925285"/>
            <a:ext cx="11525417" cy="136979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集成开发环境（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IDE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）是用于提供程序开发环境的应用程序，一般包括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代码编辑器、编译器、调试器和图形用户界面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等工具，集成了代码编写功能、分析功能、编译功能、调试功能等一体化的开发软件。典型的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IDE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</a:t>
            </a:r>
            <a:r>
              <a:rPr lang="en-US" altLang="zh-CN" sz="2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Pycharm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Visual Studio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等。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EC0A41-EB89-F31C-2103-68A8CBAAD979}"/>
              </a:ext>
            </a:extLst>
          </p:cNvPr>
          <p:cNvSpPr/>
          <p:nvPr/>
        </p:nvSpPr>
        <p:spPr>
          <a:xfrm>
            <a:off x="1687482" y="6260620"/>
            <a:ext cx="18176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Pycharm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界面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8A39E5-02B7-3630-BB3E-19A1519F5372}"/>
              </a:ext>
            </a:extLst>
          </p:cNvPr>
          <p:cNvSpPr/>
          <p:nvPr/>
        </p:nvSpPr>
        <p:spPr>
          <a:xfrm>
            <a:off x="8106105" y="6260620"/>
            <a:ext cx="238167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Visual Studio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界面</a:t>
            </a:r>
          </a:p>
          <a:p>
            <a:pPr algn="ctr"/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CE2B593-C44F-49C6-9544-5EB2B17FF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01" y="2696034"/>
            <a:ext cx="6224530" cy="36081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B86A85D-618A-5A36-8191-830320AEAE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32"/>
          <a:stretch/>
        </p:blipFill>
        <p:spPr>
          <a:xfrm>
            <a:off x="6985572" y="2753617"/>
            <a:ext cx="4266010" cy="341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656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61225-BCA5-D0DA-AF3B-0864E4618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5303F0A7-DB0C-768F-C04E-FA5881295E1C}"/>
              </a:ext>
            </a:extLst>
          </p:cNvPr>
          <p:cNvSpPr/>
          <p:nvPr/>
        </p:nvSpPr>
        <p:spPr>
          <a:xfrm>
            <a:off x="339941" y="2608857"/>
            <a:ext cx="11512118" cy="4060628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D697A1-008A-4A62-FA2C-B5745CC04EAD}"/>
              </a:ext>
            </a:extLst>
          </p:cNvPr>
          <p:cNvSpPr txBox="1"/>
          <p:nvPr/>
        </p:nvSpPr>
        <p:spPr>
          <a:xfrm>
            <a:off x="0" y="121748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语言初步使用方法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AB43949-2979-101C-AD77-7D15F19879A7}"/>
              </a:ext>
            </a:extLst>
          </p:cNvPr>
          <p:cNvSpPr/>
          <p:nvPr/>
        </p:nvSpPr>
        <p:spPr>
          <a:xfrm>
            <a:off x="293850" y="962713"/>
            <a:ext cx="11525417" cy="1477131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3E579E8-BD33-7C49-95FC-4EEAD093A59F}"/>
              </a:ext>
            </a:extLst>
          </p:cNvPr>
          <p:cNvSpPr/>
          <p:nvPr/>
        </p:nvSpPr>
        <p:spPr>
          <a:xfrm>
            <a:off x="326642" y="925285"/>
            <a:ext cx="11525417" cy="141269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PyCharm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是一种广泛使用的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集成开发环境，带有一整套可以帮助用户在使用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语言开发时提高其效率的工具。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PyCharm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工作台由菜单栏、项目目录、代码编辑区、变量显示区等组成。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EE4AC6E-8498-B86C-FD4B-E90C205A7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440" y="2783292"/>
            <a:ext cx="6496086" cy="3886193"/>
          </a:xfrm>
          <a:prstGeom prst="rect">
            <a:avLst/>
          </a:prstGeom>
        </p:spPr>
      </p:pic>
      <p:pic>
        <p:nvPicPr>
          <p:cNvPr id="11" name="图片 10" descr="图示, 网站&#10;&#10;中度可信度描述已自动生成">
            <a:extLst>
              <a:ext uri="{FF2B5EF4-FFF2-40B4-BE49-F238E27FC236}">
                <a16:creationId xmlns:a16="http://schemas.microsoft.com/office/drawing/2014/main" id="{6189B46B-E9B9-1AF4-3010-72EEF635831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003" r="4876"/>
          <a:stretch/>
        </p:blipFill>
        <p:spPr>
          <a:xfrm>
            <a:off x="601128" y="2753618"/>
            <a:ext cx="4638254" cy="248257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BB0C526-E875-870E-E404-7311A10E9946}"/>
              </a:ext>
            </a:extLst>
          </p:cNvPr>
          <p:cNvSpPr txBox="1"/>
          <p:nvPr/>
        </p:nvSpPr>
        <p:spPr>
          <a:xfrm>
            <a:off x="404473" y="5710621"/>
            <a:ext cx="49649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PyCharm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下载及安装教程：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https://www.jetbrains.com/pycharm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790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9DDCE-0207-195A-0E5B-B2E099069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209C20B7-1055-A991-1F3D-6CD08B2B21CA}"/>
              </a:ext>
            </a:extLst>
          </p:cNvPr>
          <p:cNvSpPr/>
          <p:nvPr/>
        </p:nvSpPr>
        <p:spPr>
          <a:xfrm>
            <a:off x="339941" y="2201494"/>
            <a:ext cx="11512118" cy="4467991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965737-4FB7-EA9C-F71C-9E88101C04B1}"/>
              </a:ext>
            </a:extLst>
          </p:cNvPr>
          <p:cNvSpPr txBox="1"/>
          <p:nvPr/>
        </p:nvSpPr>
        <p:spPr>
          <a:xfrm>
            <a:off x="0" y="121748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语言初步使用方法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98A2DED-A15C-4C5F-A312-70A99D5CB368}"/>
              </a:ext>
            </a:extLst>
          </p:cNvPr>
          <p:cNvSpPr/>
          <p:nvPr/>
        </p:nvSpPr>
        <p:spPr>
          <a:xfrm>
            <a:off x="293850" y="962714"/>
            <a:ext cx="11525417" cy="1111012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F006C59-0670-EB9B-93EE-F8D9BC91063F}"/>
              </a:ext>
            </a:extLst>
          </p:cNvPr>
          <p:cNvSpPr/>
          <p:nvPr/>
        </p:nvSpPr>
        <p:spPr>
          <a:xfrm>
            <a:off x="326642" y="925285"/>
            <a:ext cx="11525417" cy="136979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defRPr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PyCharm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基本操作包括新建项目和文件、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工具包下载、工具包调用、数据读取及输出、代码编写及运行等。（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新建项目和文件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553BED-6B67-F6A4-0D16-FF3E58CED6FB}"/>
              </a:ext>
            </a:extLst>
          </p:cNvPr>
          <p:cNvSpPr txBox="1"/>
          <p:nvPr/>
        </p:nvSpPr>
        <p:spPr>
          <a:xfrm>
            <a:off x="7268973" y="6269375"/>
            <a:ext cx="4964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Pycharm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中新建项目和文件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C67812C-B763-4445-9EF6-03FBED155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840" y="2329917"/>
            <a:ext cx="5712999" cy="385104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19783FC-ED6B-9A3C-CD24-911C9ACBF504}"/>
              </a:ext>
            </a:extLst>
          </p:cNvPr>
          <p:cNvSpPr txBox="1"/>
          <p:nvPr/>
        </p:nvSpPr>
        <p:spPr>
          <a:xfrm>
            <a:off x="479897" y="2555927"/>
            <a:ext cx="5172988" cy="225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-3429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p"/>
              <a:defRPr/>
            </a:pP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打开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PyCharm</a:t>
            </a:r>
            <a:endParaRPr lang="zh-CN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indent="-3429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p"/>
              <a:defRPr/>
            </a:pP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点击新建项目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File-&gt;New Project</a:t>
            </a:r>
            <a:endParaRPr lang="zh-CN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indent="-3429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p"/>
              <a:defRPr/>
            </a:pP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选择项目根目录和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解释器的版本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indent="-3429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p"/>
              <a:defRPr/>
            </a:pP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点击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Create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，即可完成新建一个项目</a:t>
            </a:r>
          </a:p>
        </p:txBody>
      </p:sp>
    </p:spTree>
    <p:extLst>
      <p:ext uri="{BB962C8B-B14F-4D97-AF65-F5344CB8AC3E}">
        <p14:creationId xmlns:p14="http://schemas.microsoft.com/office/powerpoint/2010/main" val="384999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5C41A-78BE-3CBA-CC35-EEBEF8936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5F8D5300-2CAA-FA51-3DF0-6B20CABE4C85}"/>
              </a:ext>
            </a:extLst>
          </p:cNvPr>
          <p:cNvSpPr/>
          <p:nvPr/>
        </p:nvSpPr>
        <p:spPr>
          <a:xfrm>
            <a:off x="339941" y="2201494"/>
            <a:ext cx="11512118" cy="4467991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94D617-34AF-BD2C-208F-83891CA2CE5E}"/>
              </a:ext>
            </a:extLst>
          </p:cNvPr>
          <p:cNvSpPr txBox="1"/>
          <p:nvPr/>
        </p:nvSpPr>
        <p:spPr>
          <a:xfrm>
            <a:off x="0" y="121748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语言初步使用方法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ED06893-4A21-1AFF-6BED-0AEC05F6AA90}"/>
              </a:ext>
            </a:extLst>
          </p:cNvPr>
          <p:cNvSpPr/>
          <p:nvPr/>
        </p:nvSpPr>
        <p:spPr>
          <a:xfrm>
            <a:off x="326642" y="1058449"/>
            <a:ext cx="11525417" cy="835750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122009A-9E8B-AB71-8A95-7A4667EDD737}"/>
              </a:ext>
            </a:extLst>
          </p:cNvPr>
          <p:cNvSpPr/>
          <p:nvPr/>
        </p:nvSpPr>
        <p:spPr>
          <a:xfrm>
            <a:off x="339941" y="1231545"/>
            <a:ext cx="11525417" cy="48955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buClr>
                <a:schemeClr val="tx1"/>
              </a:buClr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工具包下载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B97998F-5CD5-AC73-25E2-35F91370EECA}"/>
              </a:ext>
            </a:extLst>
          </p:cNvPr>
          <p:cNvSpPr txBox="1"/>
          <p:nvPr/>
        </p:nvSpPr>
        <p:spPr>
          <a:xfrm>
            <a:off x="7880018" y="6198644"/>
            <a:ext cx="20613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打开解释器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2D5F3B-970C-D7AA-BF1E-6144ABEFB1FE}"/>
              </a:ext>
            </a:extLst>
          </p:cNvPr>
          <p:cNvSpPr txBox="1"/>
          <p:nvPr/>
        </p:nvSpPr>
        <p:spPr>
          <a:xfrm>
            <a:off x="423559" y="2373914"/>
            <a:ext cx="5172988" cy="3570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File-&gt;Settings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，打开设置界面</a:t>
            </a:r>
          </a:p>
          <a:p>
            <a:pPr marL="342900" indent="-3429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点击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Project-&gt;Python Interpreter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，打开解释器</a:t>
            </a:r>
          </a:p>
          <a:p>
            <a:pPr marL="342900" indent="-3429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点击                        加号，在弹出的对话框中输入需要下载的包，以</a:t>
            </a:r>
            <a:r>
              <a:rPr lang="en-US" altLang="zh-CN" sz="2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Opencv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为例</a:t>
            </a:r>
          </a:p>
          <a:p>
            <a:pPr marL="342900" indent="-3429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点击搜索结果中的</a:t>
            </a:r>
            <a:r>
              <a:rPr lang="en-US" altLang="zh-CN" sz="2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Opencv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，并点击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Install Package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2E5704C-A299-C3B1-027E-668B67331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378" y="3845729"/>
            <a:ext cx="1763367" cy="29901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63A1AD5-B0F3-E435-3372-02A004A96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201" y="2362315"/>
            <a:ext cx="5088953" cy="367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693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DC86E-781F-F160-F07D-2B216C1C8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155FB6E1-0231-53AD-CA2C-16EFAC19AF0E}"/>
              </a:ext>
            </a:extLst>
          </p:cNvPr>
          <p:cNvSpPr/>
          <p:nvPr/>
        </p:nvSpPr>
        <p:spPr>
          <a:xfrm>
            <a:off x="339941" y="2201494"/>
            <a:ext cx="11512118" cy="4467991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2B8847-206B-A8C9-C87B-569F0046DF08}"/>
              </a:ext>
            </a:extLst>
          </p:cNvPr>
          <p:cNvSpPr txBox="1"/>
          <p:nvPr/>
        </p:nvSpPr>
        <p:spPr>
          <a:xfrm>
            <a:off x="0" y="121748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语言初步使用方法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2871B46-BC2D-6A2F-40A5-30CD585A8A0D}"/>
              </a:ext>
            </a:extLst>
          </p:cNvPr>
          <p:cNvSpPr/>
          <p:nvPr/>
        </p:nvSpPr>
        <p:spPr>
          <a:xfrm>
            <a:off x="326642" y="1058449"/>
            <a:ext cx="11525417" cy="835750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32EA6FA-E875-07EC-039C-2233403D6F50}"/>
              </a:ext>
            </a:extLst>
          </p:cNvPr>
          <p:cNvSpPr/>
          <p:nvPr/>
        </p:nvSpPr>
        <p:spPr>
          <a:xfrm>
            <a:off x="339941" y="1231545"/>
            <a:ext cx="11525417" cy="48955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buClr>
                <a:schemeClr val="tx1"/>
              </a:buClr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工具包下载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D3D087-1B76-EBF3-A293-502190472E19}"/>
              </a:ext>
            </a:extLst>
          </p:cNvPr>
          <p:cNvSpPr txBox="1"/>
          <p:nvPr/>
        </p:nvSpPr>
        <p:spPr>
          <a:xfrm>
            <a:off x="7880018" y="6198644"/>
            <a:ext cx="20613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下载成功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887D118-2F76-C17D-F927-051B97198F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83"/>
          <a:stretch/>
        </p:blipFill>
        <p:spPr>
          <a:xfrm>
            <a:off x="516074" y="2280653"/>
            <a:ext cx="3661564" cy="378690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5B4428E-F897-08AF-4975-8357F229A0FA}"/>
              </a:ext>
            </a:extLst>
          </p:cNvPr>
          <p:cNvSpPr txBox="1"/>
          <p:nvPr/>
        </p:nvSpPr>
        <p:spPr>
          <a:xfrm>
            <a:off x="1458271" y="6198644"/>
            <a:ext cx="29837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查找需要下载的工具包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F13A715-122F-C6E2-BF6B-CEC44B40BD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669" y="2320959"/>
            <a:ext cx="5203472" cy="375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273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0F93F-9E76-44C7-9D80-A9F9EE258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5DEA0BD8-A60B-51C1-4146-3BE6D25748DB}"/>
              </a:ext>
            </a:extLst>
          </p:cNvPr>
          <p:cNvSpPr/>
          <p:nvPr/>
        </p:nvSpPr>
        <p:spPr>
          <a:xfrm>
            <a:off x="62460" y="931854"/>
            <a:ext cx="11798737" cy="5737631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15AA58-C9B9-EBA1-53DE-2355B0EFC9FC}"/>
              </a:ext>
            </a:extLst>
          </p:cNvPr>
          <p:cNvSpPr/>
          <p:nvPr/>
        </p:nvSpPr>
        <p:spPr>
          <a:xfrm>
            <a:off x="285649" y="931854"/>
            <a:ext cx="11620701" cy="5618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）工具包调用</a:t>
            </a:r>
          </a:p>
          <a:p>
            <a:pPr>
              <a:lnSpc>
                <a:spcPct val="150000"/>
              </a:lnSpc>
              <a:buClr>
                <a:schemeClr val="tx1"/>
              </a:buClr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pandas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工具包为例，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调用工具包的代码为：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pandas as pd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  <a:buClr>
                <a:schemeClr val="tx1"/>
              </a:buClr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）数据读取及输出</a:t>
            </a:r>
          </a:p>
          <a:p>
            <a:pPr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读取和输出数据代码为：</a:t>
            </a:r>
          </a:p>
          <a:p>
            <a:pPr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pandas as pd</a:t>
            </a:r>
          </a:p>
          <a:p>
            <a:pPr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 = </a:t>
            </a:r>
            <a:r>
              <a:rPr lang="en-US" altLang="zh-CN" sz="2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pd.read_csv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('*/HT.csv')</a:t>
            </a:r>
          </a:p>
          <a:p>
            <a:pPr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其中*指数据文件所在的路径，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HT.csv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指需要读取的数据</a:t>
            </a:r>
          </a:p>
          <a:p>
            <a:pPr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zh-CN" sz="2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pd.DataFrame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(data).</a:t>
            </a:r>
            <a:r>
              <a:rPr lang="en-US" altLang="zh-CN" sz="2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to_csv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("*/data.csv", header='true', encoding='utf-8')</a:t>
            </a:r>
          </a:p>
          <a:p>
            <a:pPr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其中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是需要输出的数据，*指输出路径</a:t>
            </a:r>
          </a:p>
          <a:p>
            <a:pPr>
              <a:lnSpc>
                <a:spcPct val="150000"/>
              </a:lnSpc>
              <a:buClr>
                <a:schemeClr val="tx1"/>
              </a:buClr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）代码编写及运行</a:t>
            </a:r>
          </a:p>
          <a:p>
            <a:pPr>
              <a:lnSpc>
                <a:spcPct val="150000"/>
              </a:lnSpc>
              <a:buClr>
                <a:schemeClr val="tx1"/>
              </a:buClr>
              <a:defRPr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在代码编辑区输入代码，点击                            运行程序。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C75CA40-4D9F-F6CD-5936-259E899A2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60" y="58023"/>
            <a:ext cx="67322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80975" indent="-180975" eaLnBrk="0" hangingPunct="0">
              <a:defRPr sz="2400" b="1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/>
            <a:r>
              <a:rPr lang="en-US" altLang="zh-CN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语言初步使用方法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F6502B9-865A-8639-27AA-CAC0ACF14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714" y="6158117"/>
            <a:ext cx="1518471" cy="29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16156"/>
      </p:ext>
    </p:extLst>
  </p:cSld>
  <p:clrMapOvr>
    <a:masterClrMapping/>
  </p:clrMapOvr>
  <p:transition spd="slow" advClick="0" advTm="21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18C44-F0EA-AB4E-4D60-0B0A3B384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453DCD40-82D4-67E2-18E4-F84AAB69576C}"/>
              </a:ext>
            </a:extLst>
          </p:cNvPr>
          <p:cNvSpPr/>
          <p:nvPr/>
        </p:nvSpPr>
        <p:spPr>
          <a:xfrm>
            <a:off x="331693" y="1899276"/>
            <a:ext cx="11512118" cy="4410044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B5FB4B-B8C7-21F8-FF6E-105400502B9B}"/>
              </a:ext>
            </a:extLst>
          </p:cNvPr>
          <p:cNvSpPr txBox="1"/>
          <p:nvPr/>
        </p:nvSpPr>
        <p:spPr>
          <a:xfrm>
            <a:off x="-1" y="103662"/>
            <a:ext cx="789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案例分析：基于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的地学大数据处理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FDBAC91-D6E1-13FD-FEFE-43807B6E4356}"/>
              </a:ext>
            </a:extLst>
          </p:cNvPr>
          <p:cNvSpPr/>
          <p:nvPr/>
        </p:nvSpPr>
        <p:spPr>
          <a:xfrm>
            <a:off x="339107" y="940560"/>
            <a:ext cx="11512732" cy="764717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FC24FB-E63C-E1AB-086E-D777C83AF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85" y="1073528"/>
            <a:ext cx="8712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基于随机森林的矿产资源潜力评价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：（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）调用工具包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577" y="3075152"/>
            <a:ext cx="9895159" cy="14321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065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7EE07-BA93-6C4E-8A2D-E71CAD1C6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98D25C76-4724-025B-65CD-05AC1C69F61B}"/>
              </a:ext>
            </a:extLst>
          </p:cNvPr>
          <p:cNvSpPr/>
          <p:nvPr/>
        </p:nvSpPr>
        <p:spPr>
          <a:xfrm>
            <a:off x="331693" y="1899276"/>
            <a:ext cx="11512118" cy="4410044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8E16A6-83A5-2434-6A99-A0A54CA99821}"/>
              </a:ext>
            </a:extLst>
          </p:cNvPr>
          <p:cNvSpPr txBox="1"/>
          <p:nvPr/>
        </p:nvSpPr>
        <p:spPr>
          <a:xfrm>
            <a:off x="-1" y="103662"/>
            <a:ext cx="789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案例分析：基于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的地学大数据处理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A57545D-F5BA-7256-9EEE-2B9DF3651385}"/>
              </a:ext>
            </a:extLst>
          </p:cNvPr>
          <p:cNvSpPr/>
          <p:nvPr/>
        </p:nvSpPr>
        <p:spPr>
          <a:xfrm>
            <a:off x="339107" y="940560"/>
            <a:ext cx="11512732" cy="764717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57641F-1483-8F3B-59E8-018B22E97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85" y="1073528"/>
            <a:ext cx="8712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基于随机森林的矿产资源潜力评价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：（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）成矿要素图层读取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108" y="2487414"/>
            <a:ext cx="9146381" cy="28234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0212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F20FD-BD15-28A5-559F-2CA3F9974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EE1EF7C4-FFBF-13B5-9B7E-5363925E8852}"/>
              </a:ext>
            </a:extLst>
          </p:cNvPr>
          <p:cNvSpPr/>
          <p:nvPr/>
        </p:nvSpPr>
        <p:spPr>
          <a:xfrm>
            <a:off x="331693" y="1899276"/>
            <a:ext cx="11512118" cy="4410044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30A942-1FD4-EEAA-DEBB-91673AEDCA2A}"/>
              </a:ext>
            </a:extLst>
          </p:cNvPr>
          <p:cNvSpPr txBox="1"/>
          <p:nvPr/>
        </p:nvSpPr>
        <p:spPr>
          <a:xfrm>
            <a:off x="-1" y="103662"/>
            <a:ext cx="789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案例分析：基于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的地学大数据处理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EC8AD55-C8CA-63BE-9D08-29B488BD3A2A}"/>
              </a:ext>
            </a:extLst>
          </p:cNvPr>
          <p:cNvSpPr/>
          <p:nvPr/>
        </p:nvSpPr>
        <p:spPr>
          <a:xfrm>
            <a:off x="339107" y="940560"/>
            <a:ext cx="11512732" cy="764717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E50BEE-1EFA-32CE-8A1C-E07B93CCC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85" y="1073528"/>
            <a:ext cx="8712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基于随机森林的矿产资源潜力评价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：（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）正负样本标签制作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057" y="2746032"/>
            <a:ext cx="9578564" cy="16663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20090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E39B1-FD2E-9072-9C15-D73379EC4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58A16752-5B52-CA64-6A67-11E636DA8A7D}"/>
              </a:ext>
            </a:extLst>
          </p:cNvPr>
          <p:cNvSpPr/>
          <p:nvPr/>
        </p:nvSpPr>
        <p:spPr>
          <a:xfrm>
            <a:off x="331693" y="1899276"/>
            <a:ext cx="11512118" cy="4410044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4F29C8-7606-6955-BCA6-5C211A0EA73D}"/>
              </a:ext>
            </a:extLst>
          </p:cNvPr>
          <p:cNvSpPr txBox="1"/>
          <p:nvPr/>
        </p:nvSpPr>
        <p:spPr>
          <a:xfrm>
            <a:off x="-1" y="103662"/>
            <a:ext cx="789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案例分析：基于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的地学大数据处理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A83B61C-ED5D-3D85-EA40-A564DB0FDF08}"/>
              </a:ext>
            </a:extLst>
          </p:cNvPr>
          <p:cNvSpPr/>
          <p:nvPr/>
        </p:nvSpPr>
        <p:spPr>
          <a:xfrm>
            <a:off x="339107" y="940560"/>
            <a:ext cx="11512732" cy="764717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5C226A-83A5-F468-6793-950648427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85" y="1073528"/>
            <a:ext cx="8712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基于随机森林的矿产资源潜力评价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：（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）输出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csv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格式文件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630" y="2547223"/>
            <a:ext cx="8806573" cy="31146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56960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7875C-61BA-00F9-AA03-D8EFB5421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F661E13B-4BED-FB72-576F-B33DE25AE34C}"/>
              </a:ext>
            </a:extLst>
          </p:cNvPr>
          <p:cNvSpPr/>
          <p:nvPr/>
        </p:nvSpPr>
        <p:spPr>
          <a:xfrm>
            <a:off x="331693" y="1899276"/>
            <a:ext cx="11512118" cy="4410044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5E5EE6-8097-392C-7B65-B69EB01B749E}"/>
              </a:ext>
            </a:extLst>
          </p:cNvPr>
          <p:cNvSpPr txBox="1"/>
          <p:nvPr/>
        </p:nvSpPr>
        <p:spPr>
          <a:xfrm>
            <a:off x="-1" y="103662"/>
            <a:ext cx="789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案例分析：基于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的地学大数据处理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6918050-7904-9F7E-DFD0-EEF6F06BC22E}"/>
              </a:ext>
            </a:extLst>
          </p:cNvPr>
          <p:cNvSpPr/>
          <p:nvPr/>
        </p:nvSpPr>
        <p:spPr>
          <a:xfrm>
            <a:off x="339107" y="940560"/>
            <a:ext cx="11512732" cy="764717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5ED636-1BFD-726A-83EA-9F281972D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85" y="1073528"/>
            <a:ext cx="8712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基于随机森林的矿产资源潜力评价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：（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）数据读取完毕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E061EBC-C45B-F1EB-7B61-950FC94373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27291" y="2360420"/>
            <a:ext cx="9460715" cy="34877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416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C5860-E0A9-1400-710B-30115ABA9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9BB8C971-FA22-1572-C88C-669870800846}"/>
              </a:ext>
            </a:extLst>
          </p:cNvPr>
          <p:cNvSpPr/>
          <p:nvPr/>
        </p:nvSpPr>
        <p:spPr>
          <a:xfrm>
            <a:off x="331693" y="1899276"/>
            <a:ext cx="11512118" cy="4410044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FAB83D-ACE2-CB60-68F6-108B0A9F648E}"/>
              </a:ext>
            </a:extLst>
          </p:cNvPr>
          <p:cNvSpPr txBox="1"/>
          <p:nvPr/>
        </p:nvSpPr>
        <p:spPr>
          <a:xfrm>
            <a:off x="-1" y="103662"/>
            <a:ext cx="789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案例分析：基于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的地学大数据处理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FA563AE-FD0A-C2F7-0D5E-6E60589D0740}"/>
              </a:ext>
            </a:extLst>
          </p:cNvPr>
          <p:cNvSpPr/>
          <p:nvPr/>
        </p:nvSpPr>
        <p:spPr>
          <a:xfrm>
            <a:off x="339107" y="940560"/>
            <a:ext cx="11512732" cy="764717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CB9534-24D6-1754-8590-6DBA7A548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85" y="1073528"/>
            <a:ext cx="99744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基于随机森林的矿产资源潜力评价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：（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6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）模型预测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样本集制作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09" y="2306254"/>
            <a:ext cx="10595973" cy="27906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06943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62247-7965-4209-6060-A74051152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743D36E7-D448-848C-0556-EC7A353F832A}"/>
              </a:ext>
            </a:extLst>
          </p:cNvPr>
          <p:cNvSpPr/>
          <p:nvPr/>
        </p:nvSpPr>
        <p:spPr>
          <a:xfrm>
            <a:off x="331693" y="1899276"/>
            <a:ext cx="11512118" cy="4410044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AA3004-B6E0-DA08-93E6-D6012B71B648}"/>
              </a:ext>
            </a:extLst>
          </p:cNvPr>
          <p:cNvSpPr txBox="1"/>
          <p:nvPr/>
        </p:nvSpPr>
        <p:spPr>
          <a:xfrm>
            <a:off x="-1" y="103662"/>
            <a:ext cx="789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案例分析：基于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的地学大数据处理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BE123CE-BBDB-3B1F-D6F8-AD2E3C64F794}"/>
              </a:ext>
            </a:extLst>
          </p:cNvPr>
          <p:cNvSpPr/>
          <p:nvPr/>
        </p:nvSpPr>
        <p:spPr>
          <a:xfrm>
            <a:off x="339107" y="940560"/>
            <a:ext cx="11512732" cy="764717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54FF96-D038-44E2-CF32-3ADD3200A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85" y="1073528"/>
            <a:ext cx="8712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基于随机森林的矿产资源潜力评价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：（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7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）模型训练及预测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911" y="2746032"/>
            <a:ext cx="9242659" cy="17583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06170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CD138-2B59-8EEE-3195-9D4177970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56FD1683-139A-80E5-B6F1-11E918E82343}"/>
              </a:ext>
            </a:extLst>
          </p:cNvPr>
          <p:cNvSpPr/>
          <p:nvPr/>
        </p:nvSpPr>
        <p:spPr>
          <a:xfrm>
            <a:off x="331693" y="1899276"/>
            <a:ext cx="11512118" cy="4410044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1AB8CB-6733-6896-08C5-EA5AF7895C8F}"/>
              </a:ext>
            </a:extLst>
          </p:cNvPr>
          <p:cNvSpPr txBox="1"/>
          <p:nvPr/>
        </p:nvSpPr>
        <p:spPr>
          <a:xfrm>
            <a:off x="-1" y="103662"/>
            <a:ext cx="789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案例分析：基于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的地学大数据处理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1AF6D55-D30B-9FDE-0DB4-CF87376CFDDC}"/>
              </a:ext>
            </a:extLst>
          </p:cNvPr>
          <p:cNvSpPr/>
          <p:nvPr/>
        </p:nvSpPr>
        <p:spPr>
          <a:xfrm>
            <a:off x="339107" y="940560"/>
            <a:ext cx="11512732" cy="764717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E2E3DB-E538-2B09-F70E-F7C1821A4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85" y="1073528"/>
            <a:ext cx="8712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基于随机森林的矿产资源潜力评价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：（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8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）预测结果输出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997" y="2746032"/>
            <a:ext cx="9536338" cy="20109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7076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A9B22-10E0-AFE3-ED66-A1BEC5CA0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544A6AE-26D1-3565-28DD-78496CE62307}"/>
              </a:ext>
            </a:extLst>
          </p:cNvPr>
          <p:cNvSpPr/>
          <p:nvPr/>
        </p:nvSpPr>
        <p:spPr>
          <a:xfrm>
            <a:off x="339721" y="1899276"/>
            <a:ext cx="11512118" cy="4410044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A2C2FE-C7DE-9839-02CF-70031CC3DD77}"/>
              </a:ext>
            </a:extLst>
          </p:cNvPr>
          <p:cNvSpPr txBox="1"/>
          <p:nvPr/>
        </p:nvSpPr>
        <p:spPr>
          <a:xfrm>
            <a:off x="-1" y="103662"/>
            <a:ext cx="789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案例分析：基于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的地学大数据处理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0E02BB4-68AE-CC08-C65E-2818CBBA9B65}"/>
              </a:ext>
            </a:extLst>
          </p:cNvPr>
          <p:cNvSpPr/>
          <p:nvPr/>
        </p:nvSpPr>
        <p:spPr>
          <a:xfrm>
            <a:off x="339107" y="940560"/>
            <a:ext cx="11512732" cy="764717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16A48A-EAA2-240E-0AB9-284BC04C8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84" y="1073528"/>
            <a:ext cx="96632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基于随机森林的矿产资源潜力评价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：（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9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）预测结果可视化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D1E0B3-173C-3CA3-6F45-5E12EFA86B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67300" y="2008311"/>
            <a:ext cx="5873344" cy="43010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1161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119B1-01D1-6DCC-F4C9-B71D3A7FA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991EDEF1-7553-B883-B401-6E6309CC654B}"/>
              </a:ext>
            </a:extLst>
          </p:cNvPr>
          <p:cNvSpPr/>
          <p:nvPr/>
        </p:nvSpPr>
        <p:spPr>
          <a:xfrm>
            <a:off x="339721" y="1899276"/>
            <a:ext cx="11512118" cy="4410044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3E2284-D02A-F311-6C2F-EA96F755C75D}"/>
              </a:ext>
            </a:extLst>
          </p:cNvPr>
          <p:cNvSpPr txBox="1"/>
          <p:nvPr/>
        </p:nvSpPr>
        <p:spPr>
          <a:xfrm>
            <a:off x="-1" y="103662"/>
            <a:ext cx="789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案例分析：基于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的地学大数据处理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3351FD5-417F-6D51-9B9D-333200BAAC8A}"/>
              </a:ext>
            </a:extLst>
          </p:cNvPr>
          <p:cNvSpPr/>
          <p:nvPr/>
        </p:nvSpPr>
        <p:spPr>
          <a:xfrm>
            <a:off x="339107" y="940560"/>
            <a:ext cx="11512732" cy="764717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0D079C-3D3D-5278-1B3F-0E48E4503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85" y="1073528"/>
            <a:ext cx="8712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基于随机森林的矿产资源潜力评价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：（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10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  <a:sym typeface="Wingdings" panose="05000000000000000000" pitchFamily="2" charset="2"/>
              </a:rPr>
              <a:t>）结果评价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Noto Sans S Chinese Medium" panose="020B0600000000000000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B339C8B-EA12-43AC-B8EA-71992154A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01006" y="2329756"/>
            <a:ext cx="4734165" cy="3549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33" y="2865430"/>
            <a:ext cx="6469106" cy="26103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06616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" y="2050549"/>
            <a:ext cx="12192000" cy="2473036"/>
          </a:xfrm>
          <a:prstGeom prst="rect">
            <a:avLst/>
          </a:prstGeom>
          <a:gradFill>
            <a:gsLst>
              <a:gs pos="0">
                <a:srgbClr val="3F96D1"/>
              </a:gs>
              <a:gs pos="100000">
                <a:srgbClr val="1768D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651050" y="2875002"/>
            <a:ext cx="322716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6600" b="1" dirty="0">
                <a:solidFill>
                  <a:schemeClr val="bg1"/>
                </a:solidFill>
                <a:effectLst>
                  <a:glow rad="76200">
                    <a:srgbClr val="0070C0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  谢！</a:t>
            </a:r>
          </a:p>
        </p:txBody>
      </p:sp>
      <p:pic>
        <p:nvPicPr>
          <p:cNvPr id="2" name="Picture 15" descr="trans_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73" y="211696"/>
            <a:ext cx="1071735" cy="1071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384" y="217682"/>
            <a:ext cx="1835422" cy="122579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eb6d73d-5ac4-4f03-a594-3573ec11f896"/>
  <p:tag name="COMMONDATA" val="eyJoZGlkIjoiNWM1N2E3Yjg1N2Y1MzBlMmVhYmFiOWFkODZhNTMyZD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8009</TotalTime>
  <Words>1104</Words>
  <Application>Microsoft Office PowerPoint</Application>
  <PresentationFormat>宽屏</PresentationFormat>
  <Paragraphs>138</Paragraphs>
  <Slides>28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Noto Sans S Chinese Medium</vt:lpstr>
      <vt:lpstr>等线</vt:lpstr>
      <vt:lpstr>等线 Light</vt:lpstr>
      <vt:lpstr>宋体</vt:lpstr>
      <vt:lpstr>微软雅黑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Zuo Renguang</dc:creator>
  <cp:lastModifiedBy>A</cp:lastModifiedBy>
  <cp:revision>482</cp:revision>
  <dcterms:created xsi:type="dcterms:W3CDTF">2022-12-23T03:18:00Z</dcterms:created>
  <dcterms:modified xsi:type="dcterms:W3CDTF">2025-05-27T00:01:16Z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8B448096C7644B88815BA23205441E2B</vt:lpwstr>
  </property>
  <property fmtid="{D5CDD505-2E9C-101B-9397-08002B2CF9AE}" pid="3" name="KSOProductBuildVer">
    <vt:lpwstr>2052-11.1.0.13703</vt:lpwstr>
  </property>
</Properties>
</file>